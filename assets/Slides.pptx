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323" r:id="rId3"/>
    <p:sldId id="320" r:id="rId4"/>
    <p:sldId id="314" r:id="rId5"/>
    <p:sldId id="313" r:id="rId6"/>
    <p:sldId id="317" r:id="rId7"/>
    <p:sldId id="316" r:id="rId8"/>
    <p:sldId id="325" r:id="rId9"/>
    <p:sldId id="324" r:id="rId10"/>
    <p:sldId id="321" r:id="rId11"/>
    <p:sldId id="318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EDE"/>
    <a:srgbClr val="B9B9B9"/>
    <a:srgbClr val="CFD6EA"/>
    <a:srgbClr val="E9EC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48"/>
    <p:restoredTop sz="95393"/>
  </p:normalViewPr>
  <p:slideViewPr>
    <p:cSldViewPr snapToGrid="0">
      <p:cViewPr varScale="1">
        <p:scale>
          <a:sx n="137" d="100"/>
          <a:sy n="137" d="100"/>
        </p:scale>
        <p:origin x="22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0C0855-70AF-B043-90E4-46F9FE6CBFF3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EB10E0-F721-AC4D-A160-4B484C82A08A}">
      <dgm:prSet phldrT="[Text]"/>
      <dgm:spPr/>
      <dgm:t>
        <a:bodyPr/>
        <a:lstStyle/>
        <a:p>
          <a:r>
            <a:rPr lang="en-GB" noProof="0" dirty="0"/>
            <a:t>Machine Learning</a:t>
          </a:r>
        </a:p>
      </dgm:t>
    </dgm:pt>
    <dgm:pt modelId="{34A1573A-BDD3-B242-AC91-F85C0AEA8E77}" type="parTrans" cxnId="{5CE20FBB-C4E0-4F4D-9B2B-E56B44B6C7AA}">
      <dgm:prSet/>
      <dgm:spPr/>
      <dgm:t>
        <a:bodyPr/>
        <a:lstStyle/>
        <a:p>
          <a:endParaRPr lang="en-GB" noProof="0" dirty="0"/>
        </a:p>
      </dgm:t>
    </dgm:pt>
    <dgm:pt modelId="{7D73B598-8290-E942-B20E-BBA91A517810}" type="sibTrans" cxnId="{5CE20FBB-C4E0-4F4D-9B2B-E56B44B6C7AA}">
      <dgm:prSet/>
      <dgm:spPr/>
      <dgm:t>
        <a:bodyPr/>
        <a:lstStyle/>
        <a:p>
          <a:endParaRPr lang="en-GB" noProof="0" dirty="0"/>
        </a:p>
      </dgm:t>
    </dgm:pt>
    <dgm:pt modelId="{E9D06824-500D-E741-A01C-C04D1D781A88}">
      <dgm:prSet phldrT="[Text]"/>
      <dgm:spPr/>
      <dgm:t>
        <a:bodyPr/>
        <a:lstStyle/>
        <a:p>
          <a:r>
            <a:rPr lang="en-GB" noProof="0" dirty="0"/>
            <a:t>Multipath Routing</a:t>
          </a:r>
        </a:p>
      </dgm:t>
    </dgm:pt>
    <dgm:pt modelId="{B7B1B835-A7B5-EB4D-9C8E-A9897DD4297F}" type="parTrans" cxnId="{A2D3399D-3311-E24D-AD22-8E286B835F24}">
      <dgm:prSet/>
      <dgm:spPr/>
      <dgm:t>
        <a:bodyPr/>
        <a:lstStyle/>
        <a:p>
          <a:endParaRPr lang="en-GB" noProof="0" dirty="0"/>
        </a:p>
      </dgm:t>
    </dgm:pt>
    <dgm:pt modelId="{7B788EC2-6AC6-CD4F-8F52-9248C4D8972A}" type="sibTrans" cxnId="{A2D3399D-3311-E24D-AD22-8E286B835F24}">
      <dgm:prSet/>
      <dgm:spPr/>
      <dgm:t>
        <a:bodyPr/>
        <a:lstStyle/>
        <a:p>
          <a:endParaRPr lang="en-GB" noProof="0" dirty="0"/>
        </a:p>
      </dgm:t>
    </dgm:pt>
    <dgm:pt modelId="{BCA17355-2D96-4747-99D6-EA33595C737E}">
      <dgm:prSet phldrT="[Text]"/>
      <dgm:spPr/>
      <dgm:t>
        <a:bodyPr/>
        <a:lstStyle/>
        <a:p>
          <a:r>
            <a:rPr lang="en-GB" noProof="0" dirty="0"/>
            <a:t>Moving Target Defence</a:t>
          </a:r>
        </a:p>
      </dgm:t>
    </dgm:pt>
    <dgm:pt modelId="{006BDFFF-01A2-1240-B5C1-DD38E6722136}" type="parTrans" cxnId="{F4E5608F-FF51-1243-B180-0FB414E6D3B5}">
      <dgm:prSet/>
      <dgm:spPr/>
      <dgm:t>
        <a:bodyPr/>
        <a:lstStyle/>
        <a:p>
          <a:endParaRPr lang="en-GB" noProof="0" dirty="0"/>
        </a:p>
      </dgm:t>
    </dgm:pt>
    <dgm:pt modelId="{011AB26A-CACE-B14E-B5D6-F3584924F869}" type="sibTrans" cxnId="{F4E5608F-FF51-1243-B180-0FB414E6D3B5}">
      <dgm:prSet/>
      <dgm:spPr/>
      <dgm:t>
        <a:bodyPr/>
        <a:lstStyle/>
        <a:p>
          <a:endParaRPr lang="en-GB" noProof="0" dirty="0"/>
        </a:p>
      </dgm:t>
    </dgm:pt>
    <dgm:pt modelId="{6BE31441-EF4D-3046-9FB1-6326865FF23B}">
      <dgm:prSet phldrT="[Text]"/>
      <dgm:spPr/>
      <dgm:t>
        <a:bodyPr/>
        <a:lstStyle/>
        <a:p>
          <a:r>
            <a:rPr lang="en-GB" noProof="0" dirty="0" err="1"/>
            <a:t>Deliwala</a:t>
          </a:r>
          <a:r>
            <a:rPr lang="en-GB" noProof="0" dirty="0"/>
            <a:t>, P. et al. purposed an SDN approach using machine learning to detect the link flooding attack in ICS.</a:t>
          </a:r>
        </a:p>
      </dgm:t>
    </dgm:pt>
    <dgm:pt modelId="{9E934087-C430-6745-9C91-66E966E64883}" type="parTrans" cxnId="{BB18F61F-F02D-D343-8FF9-A7EB81E4A8EF}">
      <dgm:prSet/>
      <dgm:spPr/>
      <dgm:t>
        <a:bodyPr/>
        <a:lstStyle/>
        <a:p>
          <a:endParaRPr lang="en-GB" noProof="0" dirty="0"/>
        </a:p>
      </dgm:t>
    </dgm:pt>
    <dgm:pt modelId="{993F29E7-31A6-3A47-B9B5-F08539F9F5E4}" type="sibTrans" cxnId="{BB18F61F-F02D-D343-8FF9-A7EB81E4A8EF}">
      <dgm:prSet/>
      <dgm:spPr/>
      <dgm:t>
        <a:bodyPr/>
        <a:lstStyle/>
        <a:p>
          <a:endParaRPr lang="en-GB" noProof="0" dirty="0"/>
        </a:p>
      </dgm:t>
    </dgm:pt>
    <dgm:pt modelId="{A16AF043-564F-554B-8F1A-585F0BF3FB33}">
      <dgm:prSet phldrT="[Text]"/>
      <dgm:spPr/>
      <dgm:t>
        <a:bodyPr/>
        <a:lstStyle/>
        <a:p>
          <a:r>
            <a:rPr lang="en-GB" noProof="0" dirty="0" err="1"/>
            <a:t>Ndonda</a:t>
          </a:r>
          <a:r>
            <a:rPr lang="en-GB" noProof="0" dirty="0"/>
            <a:t>, GK. and </a:t>
          </a:r>
          <a:r>
            <a:rPr lang="en-GB" noProof="0" dirty="0" err="1"/>
            <a:t>Sadre</a:t>
          </a:r>
          <a:r>
            <a:rPr lang="en-GB" noProof="0" dirty="0"/>
            <a:t>, R. put forward an SDN-based multipath routing algorithm to prevent eavesdropping in ICS.</a:t>
          </a:r>
        </a:p>
      </dgm:t>
    </dgm:pt>
    <dgm:pt modelId="{D65611E1-F73C-DA49-95E2-063E9216D8C4}" type="parTrans" cxnId="{A6C62A90-986C-4E47-93F5-02CA74878BF9}">
      <dgm:prSet/>
      <dgm:spPr/>
      <dgm:t>
        <a:bodyPr/>
        <a:lstStyle/>
        <a:p>
          <a:endParaRPr lang="en-GB" noProof="0" dirty="0"/>
        </a:p>
      </dgm:t>
    </dgm:pt>
    <dgm:pt modelId="{C0E5D24F-F2B0-1443-B9A1-3A8FB4715BEB}" type="sibTrans" cxnId="{A6C62A90-986C-4E47-93F5-02CA74878BF9}">
      <dgm:prSet/>
      <dgm:spPr/>
      <dgm:t>
        <a:bodyPr/>
        <a:lstStyle/>
        <a:p>
          <a:endParaRPr lang="en-GB" noProof="0" dirty="0"/>
        </a:p>
      </dgm:t>
    </dgm:pt>
    <dgm:pt modelId="{5939E81B-660D-9648-9E13-2F158298C88B}">
      <dgm:prSet phldrT="[Text]"/>
      <dgm:spPr/>
      <dgm:t>
        <a:bodyPr/>
        <a:lstStyle/>
        <a:p>
          <a:r>
            <a:rPr lang="en-GB" noProof="0" dirty="0"/>
            <a:t>Wang, F. et al. presented an active SDN countermeasure based on moving target defence.</a:t>
          </a:r>
        </a:p>
      </dgm:t>
    </dgm:pt>
    <dgm:pt modelId="{1E4CCD06-648A-0F44-B752-B81BE03B273D}" type="parTrans" cxnId="{87F22367-B658-3944-BC9F-033F19D36CB9}">
      <dgm:prSet/>
      <dgm:spPr/>
      <dgm:t>
        <a:bodyPr/>
        <a:lstStyle/>
        <a:p>
          <a:endParaRPr lang="en-GB" noProof="0" dirty="0"/>
        </a:p>
      </dgm:t>
    </dgm:pt>
    <dgm:pt modelId="{8507BEEF-AC39-E546-B44A-D68322E9C158}" type="sibTrans" cxnId="{87F22367-B658-3944-BC9F-033F19D36CB9}">
      <dgm:prSet/>
      <dgm:spPr/>
      <dgm:t>
        <a:bodyPr/>
        <a:lstStyle/>
        <a:p>
          <a:endParaRPr lang="en-GB" noProof="0" dirty="0"/>
        </a:p>
      </dgm:t>
    </dgm:pt>
    <dgm:pt modelId="{2F592661-FEE2-1248-8A9E-3067480A78A7}">
      <dgm:prSet phldrT="[Text]"/>
      <dgm:spPr/>
      <dgm:t>
        <a:bodyPr/>
        <a:lstStyle/>
        <a:p>
          <a:r>
            <a:rPr lang="en-GB" noProof="0" dirty="0"/>
            <a:t>Inspection-based Slow HTTP Defence</a:t>
          </a:r>
        </a:p>
      </dgm:t>
    </dgm:pt>
    <dgm:pt modelId="{72223CE1-E8DE-2341-B453-A150C5BC144B}" type="parTrans" cxnId="{5BBB2803-F21F-F54F-970F-E17061988000}">
      <dgm:prSet/>
      <dgm:spPr/>
      <dgm:t>
        <a:bodyPr/>
        <a:lstStyle/>
        <a:p>
          <a:endParaRPr lang="en-GB" noProof="0" dirty="0"/>
        </a:p>
      </dgm:t>
    </dgm:pt>
    <dgm:pt modelId="{4E0454A7-52CA-8A44-8F74-6650EF5B181B}" type="sibTrans" cxnId="{5BBB2803-F21F-F54F-970F-E17061988000}">
      <dgm:prSet/>
      <dgm:spPr/>
      <dgm:t>
        <a:bodyPr/>
        <a:lstStyle/>
        <a:p>
          <a:endParaRPr lang="en-GB" noProof="0" dirty="0"/>
        </a:p>
      </dgm:t>
    </dgm:pt>
    <dgm:pt modelId="{E57CC8AF-5C73-EC45-8793-D7756CCADAE4}">
      <dgm:prSet phldrT="[Text]"/>
      <dgm:spPr/>
      <dgm:t>
        <a:bodyPr/>
        <a:lstStyle/>
        <a:p>
          <a:r>
            <a:rPr lang="en-GB" noProof="0" dirty="0"/>
            <a:t>Hong, K. et al. designed a countermeasure against slow HTTP attack based on incomplete HTTP requests with long timeout.</a:t>
          </a:r>
        </a:p>
      </dgm:t>
    </dgm:pt>
    <dgm:pt modelId="{DB57CFD5-A2B9-194B-AB90-C9EF80289B1F}" type="parTrans" cxnId="{B56F0293-62A4-F643-A93B-F9C988C49AE2}">
      <dgm:prSet/>
      <dgm:spPr/>
      <dgm:t>
        <a:bodyPr/>
        <a:lstStyle/>
        <a:p>
          <a:endParaRPr lang="en-US"/>
        </a:p>
      </dgm:t>
    </dgm:pt>
    <dgm:pt modelId="{A78C4511-D248-0A4C-AA07-870EB25F2179}" type="sibTrans" cxnId="{B56F0293-62A4-F643-A93B-F9C988C49AE2}">
      <dgm:prSet/>
      <dgm:spPr/>
      <dgm:t>
        <a:bodyPr/>
        <a:lstStyle/>
        <a:p>
          <a:endParaRPr lang="en-US"/>
        </a:p>
      </dgm:t>
    </dgm:pt>
    <dgm:pt modelId="{4336E4AA-C010-7446-8C59-AF3DE05E3ACD}">
      <dgm:prSet phldrT="[Text]"/>
      <dgm:spPr/>
      <dgm:t>
        <a:bodyPr/>
        <a:lstStyle/>
        <a:p>
          <a:r>
            <a:rPr lang="en-GB" noProof="0" dirty="0"/>
            <a:t>Flow-based Traffic Blocking Criteria</a:t>
          </a:r>
        </a:p>
      </dgm:t>
    </dgm:pt>
    <dgm:pt modelId="{AD5DF535-1C3F-6147-B59D-0B003298B0F8}" type="parTrans" cxnId="{165731F6-C80B-1140-8E6C-A1269A10E06C}">
      <dgm:prSet/>
      <dgm:spPr/>
      <dgm:t>
        <a:bodyPr/>
        <a:lstStyle/>
        <a:p>
          <a:endParaRPr lang="en-US"/>
        </a:p>
      </dgm:t>
    </dgm:pt>
    <dgm:pt modelId="{862DAA8B-66A5-4E49-940C-DD02F0487B31}" type="sibTrans" cxnId="{165731F6-C80B-1140-8E6C-A1269A10E06C}">
      <dgm:prSet/>
      <dgm:spPr/>
      <dgm:t>
        <a:bodyPr/>
        <a:lstStyle/>
        <a:p>
          <a:endParaRPr lang="en-US"/>
        </a:p>
      </dgm:t>
    </dgm:pt>
    <dgm:pt modelId="{5C034D6F-CC6A-D549-8565-9A21CEEF31EA}">
      <dgm:prSet phldrT="[Text]"/>
      <dgm:spPr/>
      <dgm:t>
        <a:bodyPr/>
        <a:lstStyle/>
        <a:p>
          <a:r>
            <a:rPr lang="en-GB" noProof="0" dirty="0"/>
            <a:t>Byun, M. et al. discussed the traffic blocking based on IP and ingress port against IP spoofing.</a:t>
          </a:r>
        </a:p>
      </dgm:t>
    </dgm:pt>
    <dgm:pt modelId="{6DC7DADA-2A4E-5742-B3DA-BC7CABF1BFBF}" type="parTrans" cxnId="{3DE0DBB1-CBCF-9242-84F6-AAD53BD91C14}">
      <dgm:prSet/>
      <dgm:spPr/>
      <dgm:t>
        <a:bodyPr/>
        <a:lstStyle/>
        <a:p>
          <a:endParaRPr lang="en-US"/>
        </a:p>
      </dgm:t>
    </dgm:pt>
    <dgm:pt modelId="{3166DED0-5B19-B047-A941-CCEFB1A03F9D}" type="sibTrans" cxnId="{3DE0DBB1-CBCF-9242-84F6-AAD53BD91C14}">
      <dgm:prSet/>
      <dgm:spPr/>
      <dgm:t>
        <a:bodyPr/>
        <a:lstStyle/>
        <a:p>
          <a:endParaRPr lang="en-US"/>
        </a:p>
      </dgm:t>
    </dgm:pt>
    <dgm:pt modelId="{4BAED75D-5BB6-224A-A55F-B7400B5E8E8B}" type="pres">
      <dgm:prSet presAssocID="{8E0C0855-70AF-B043-90E4-46F9FE6CBFF3}" presName="linear" presStyleCnt="0">
        <dgm:presLayoutVars>
          <dgm:dir/>
          <dgm:animLvl val="lvl"/>
          <dgm:resizeHandles val="exact"/>
        </dgm:presLayoutVars>
      </dgm:prSet>
      <dgm:spPr/>
    </dgm:pt>
    <dgm:pt modelId="{B60DBB0D-558E-E347-A678-B534431FE02A}" type="pres">
      <dgm:prSet presAssocID="{78EB10E0-F721-AC4D-A160-4B484C82A08A}" presName="parentLin" presStyleCnt="0"/>
      <dgm:spPr/>
    </dgm:pt>
    <dgm:pt modelId="{5FD25DB4-3926-CA4A-BE9E-F9BAA8CAFA97}" type="pres">
      <dgm:prSet presAssocID="{78EB10E0-F721-AC4D-A160-4B484C82A08A}" presName="parentLeftMargin" presStyleLbl="node1" presStyleIdx="0" presStyleCnt="5"/>
      <dgm:spPr/>
    </dgm:pt>
    <dgm:pt modelId="{C4122FD7-38F6-AA40-AB0E-7927444FE932}" type="pres">
      <dgm:prSet presAssocID="{78EB10E0-F721-AC4D-A160-4B484C82A08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6F1D4D9-C764-9D42-B40F-85A751EEE4FD}" type="pres">
      <dgm:prSet presAssocID="{78EB10E0-F721-AC4D-A160-4B484C82A08A}" presName="negativeSpace" presStyleCnt="0"/>
      <dgm:spPr/>
    </dgm:pt>
    <dgm:pt modelId="{0B904B9C-88E6-EF46-B78A-F46AE0AA9260}" type="pres">
      <dgm:prSet presAssocID="{78EB10E0-F721-AC4D-A160-4B484C82A08A}" presName="childText" presStyleLbl="conFgAcc1" presStyleIdx="0" presStyleCnt="5">
        <dgm:presLayoutVars>
          <dgm:bulletEnabled val="1"/>
        </dgm:presLayoutVars>
      </dgm:prSet>
      <dgm:spPr/>
    </dgm:pt>
    <dgm:pt modelId="{EC1F6B3B-0836-B848-BE10-C3FC8EF3DA52}" type="pres">
      <dgm:prSet presAssocID="{7D73B598-8290-E942-B20E-BBA91A517810}" presName="spaceBetweenRectangles" presStyleCnt="0"/>
      <dgm:spPr/>
    </dgm:pt>
    <dgm:pt modelId="{33496C26-E5C2-7747-877A-63335708B5E3}" type="pres">
      <dgm:prSet presAssocID="{E9D06824-500D-E741-A01C-C04D1D781A88}" presName="parentLin" presStyleCnt="0"/>
      <dgm:spPr/>
    </dgm:pt>
    <dgm:pt modelId="{5B9B7B8C-8466-8D47-A884-8119BA5AC7AF}" type="pres">
      <dgm:prSet presAssocID="{E9D06824-500D-E741-A01C-C04D1D781A88}" presName="parentLeftMargin" presStyleLbl="node1" presStyleIdx="0" presStyleCnt="5"/>
      <dgm:spPr/>
    </dgm:pt>
    <dgm:pt modelId="{538C7D21-B8AF-DC4B-968C-7E29C89D839A}" type="pres">
      <dgm:prSet presAssocID="{E9D06824-500D-E741-A01C-C04D1D781A8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5A84E67-2BB4-954A-8872-A55B4D766CD7}" type="pres">
      <dgm:prSet presAssocID="{E9D06824-500D-E741-A01C-C04D1D781A88}" presName="negativeSpace" presStyleCnt="0"/>
      <dgm:spPr/>
    </dgm:pt>
    <dgm:pt modelId="{AE597B17-90AC-F44E-B97A-40D3A8319A62}" type="pres">
      <dgm:prSet presAssocID="{E9D06824-500D-E741-A01C-C04D1D781A88}" presName="childText" presStyleLbl="conFgAcc1" presStyleIdx="1" presStyleCnt="5">
        <dgm:presLayoutVars>
          <dgm:bulletEnabled val="1"/>
        </dgm:presLayoutVars>
      </dgm:prSet>
      <dgm:spPr/>
    </dgm:pt>
    <dgm:pt modelId="{BEE8243B-75A6-7640-AAAD-F5EDD099B08C}" type="pres">
      <dgm:prSet presAssocID="{7B788EC2-6AC6-CD4F-8F52-9248C4D8972A}" presName="spaceBetweenRectangles" presStyleCnt="0"/>
      <dgm:spPr/>
    </dgm:pt>
    <dgm:pt modelId="{6EA2D241-9E13-FA47-BA2E-26D220337920}" type="pres">
      <dgm:prSet presAssocID="{4336E4AA-C010-7446-8C59-AF3DE05E3ACD}" presName="parentLin" presStyleCnt="0"/>
      <dgm:spPr/>
    </dgm:pt>
    <dgm:pt modelId="{61CD707A-2735-E848-BD19-364ECC55CD06}" type="pres">
      <dgm:prSet presAssocID="{4336E4AA-C010-7446-8C59-AF3DE05E3ACD}" presName="parentLeftMargin" presStyleLbl="node1" presStyleIdx="1" presStyleCnt="5"/>
      <dgm:spPr/>
    </dgm:pt>
    <dgm:pt modelId="{A84B09BA-6B69-F147-AB87-C478AAD48C6C}" type="pres">
      <dgm:prSet presAssocID="{4336E4AA-C010-7446-8C59-AF3DE05E3AC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FA44553-D956-994A-8BA1-7341F1F87669}" type="pres">
      <dgm:prSet presAssocID="{4336E4AA-C010-7446-8C59-AF3DE05E3ACD}" presName="negativeSpace" presStyleCnt="0"/>
      <dgm:spPr/>
    </dgm:pt>
    <dgm:pt modelId="{06C7AE03-7420-404A-BA52-464699CA51D8}" type="pres">
      <dgm:prSet presAssocID="{4336E4AA-C010-7446-8C59-AF3DE05E3ACD}" presName="childText" presStyleLbl="conFgAcc1" presStyleIdx="2" presStyleCnt="5">
        <dgm:presLayoutVars>
          <dgm:bulletEnabled val="1"/>
        </dgm:presLayoutVars>
      </dgm:prSet>
      <dgm:spPr/>
    </dgm:pt>
    <dgm:pt modelId="{E38B34D4-7156-5C4C-9867-2F434A391751}" type="pres">
      <dgm:prSet presAssocID="{862DAA8B-66A5-4E49-940C-DD02F0487B31}" presName="spaceBetweenRectangles" presStyleCnt="0"/>
      <dgm:spPr/>
    </dgm:pt>
    <dgm:pt modelId="{9C74B8C1-4805-0541-9A9E-425A6BBECEBE}" type="pres">
      <dgm:prSet presAssocID="{BCA17355-2D96-4747-99D6-EA33595C737E}" presName="parentLin" presStyleCnt="0"/>
      <dgm:spPr/>
    </dgm:pt>
    <dgm:pt modelId="{227B6CE7-0F5A-6643-A272-D7C2988DF796}" type="pres">
      <dgm:prSet presAssocID="{BCA17355-2D96-4747-99D6-EA33595C737E}" presName="parentLeftMargin" presStyleLbl="node1" presStyleIdx="2" presStyleCnt="5"/>
      <dgm:spPr/>
    </dgm:pt>
    <dgm:pt modelId="{2B65C49F-ADF0-3E4F-A1E4-ABACEB106DF6}" type="pres">
      <dgm:prSet presAssocID="{BCA17355-2D96-4747-99D6-EA33595C737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D9B63E2-5D0E-564D-A229-F520965478C2}" type="pres">
      <dgm:prSet presAssocID="{BCA17355-2D96-4747-99D6-EA33595C737E}" presName="negativeSpace" presStyleCnt="0"/>
      <dgm:spPr/>
    </dgm:pt>
    <dgm:pt modelId="{E42F41B8-1375-AE45-B242-5A68E50B9C66}" type="pres">
      <dgm:prSet presAssocID="{BCA17355-2D96-4747-99D6-EA33595C737E}" presName="childText" presStyleLbl="conFgAcc1" presStyleIdx="3" presStyleCnt="5">
        <dgm:presLayoutVars>
          <dgm:bulletEnabled val="1"/>
        </dgm:presLayoutVars>
      </dgm:prSet>
      <dgm:spPr/>
    </dgm:pt>
    <dgm:pt modelId="{C2CE15B0-3787-D440-963A-0D301C4552C4}" type="pres">
      <dgm:prSet presAssocID="{011AB26A-CACE-B14E-B5D6-F3584924F869}" presName="spaceBetweenRectangles" presStyleCnt="0"/>
      <dgm:spPr/>
    </dgm:pt>
    <dgm:pt modelId="{42D868A4-7688-2743-81D0-1C178B61C88D}" type="pres">
      <dgm:prSet presAssocID="{2F592661-FEE2-1248-8A9E-3067480A78A7}" presName="parentLin" presStyleCnt="0"/>
      <dgm:spPr/>
    </dgm:pt>
    <dgm:pt modelId="{B6FEAD76-C308-5147-B072-ADC1B87FF79C}" type="pres">
      <dgm:prSet presAssocID="{2F592661-FEE2-1248-8A9E-3067480A78A7}" presName="parentLeftMargin" presStyleLbl="node1" presStyleIdx="3" presStyleCnt="5"/>
      <dgm:spPr/>
    </dgm:pt>
    <dgm:pt modelId="{FB6303A9-3349-4D46-B324-6915122B4262}" type="pres">
      <dgm:prSet presAssocID="{2F592661-FEE2-1248-8A9E-3067480A78A7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3BAA9B95-56CD-834F-9C40-D2FFB991103D}" type="pres">
      <dgm:prSet presAssocID="{2F592661-FEE2-1248-8A9E-3067480A78A7}" presName="negativeSpace" presStyleCnt="0"/>
      <dgm:spPr/>
    </dgm:pt>
    <dgm:pt modelId="{5DD736BC-250B-4D42-8CB1-CDB8D51AF917}" type="pres">
      <dgm:prSet presAssocID="{2F592661-FEE2-1248-8A9E-3067480A78A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5BBB2803-F21F-F54F-970F-E17061988000}" srcId="{8E0C0855-70AF-B043-90E4-46F9FE6CBFF3}" destId="{2F592661-FEE2-1248-8A9E-3067480A78A7}" srcOrd="4" destOrd="0" parTransId="{72223CE1-E8DE-2341-B453-A150C5BC144B}" sibTransId="{4E0454A7-52CA-8A44-8F74-6650EF5B181B}"/>
    <dgm:cxn modelId="{5017351D-03ED-1E49-8564-0ECC23AFDC48}" type="presOf" srcId="{78EB10E0-F721-AC4D-A160-4B484C82A08A}" destId="{5FD25DB4-3926-CA4A-BE9E-F9BAA8CAFA97}" srcOrd="0" destOrd="0" presId="urn:microsoft.com/office/officeart/2005/8/layout/list1"/>
    <dgm:cxn modelId="{BB18F61F-F02D-D343-8FF9-A7EB81E4A8EF}" srcId="{78EB10E0-F721-AC4D-A160-4B484C82A08A}" destId="{6BE31441-EF4D-3046-9FB1-6326865FF23B}" srcOrd="0" destOrd="0" parTransId="{9E934087-C430-6745-9C91-66E966E64883}" sibTransId="{993F29E7-31A6-3A47-B9B5-F08539F9F5E4}"/>
    <dgm:cxn modelId="{B7933029-A495-CA48-A46D-72089C32B216}" type="presOf" srcId="{E9D06824-500D-E741-A01C-C04D1D781A88}" destId="{538C7D21-B8AF-DC4B-968C-7E29C89D839A}" srcOrd="1" destOrd="0" presId="urn:microsoft.com/office/officeart/2005/8/layout/list1"/>
    <dgm:cxn modelId="{62C8F03E-AA8B-964C-92D7-1DB81DFF4D91}" type="presOf" srcId="{2F592661-FEE2-1248-8A9E-3067480A78A7}" destId="{B6FEAD76-C308-5147-B072-ADC1B87FF79C}" srcOrd="0" destOrd="0" presId="urn:microsoft.com/office/officeart/2005/8/layout/list1"/>
    <dgm:cxn modelId="{F04ADE45-554B-3B45-B201-1E5A642DDA93}" type="presOf" srcId="{E57CC8AF-5C73-EC45-8793-D7756CCADAE4}" destId="{5DD736BC-250B-4D42-8CB1-CDB8D51AF917}" srcOrd="0" destOrd="0" presId="urn:microsoft.com/office/officeart/2005/8/layout/list1"/>
    <dgm:cxn modelId="{5D1E8F51-2D46-914E-BF3F-84B6D978423B}" type="presOf" srcId="{6BE31441-EF4D-3046-9FB1-6326865FF23B}" destId="{0B904B9C-88E6-EF46-B78A-F46AE0AA9260}" srcOrd="0" destOrd="0" presId="urn:microsoft.com/office/officeart/2005/8/layout/list1"/>
    <dgm:cxn modelId="{ED714564-6C16-224C-B08A-4BC10BE49778}" type="presOf" srcId="{5C034D6F-CC6A-D549-8565-9A21CEEF31EA}" destId="{06C7AE03-7420-404A-BA52-464699CA51D8}" srcOrd="0" destOrd="0" presId="urn:microsoft.com/office/officeart/2005/8/layout/list1"/>
    <dgm:cxn modelId="{87F22367-B658-3944-BC9F-033F19D36CB9}" srcId="{BCA17355-2D96-4747-99D6-EA33595C737E}" destId="{5939E81B-660D-9648-9E13-2F158298C88B}" srcOrd="0" destOrd="0" parTransId="{1E4CCD06-648A-0F44-B752-B81BE03B273D}" sibTransId="{8507BEEF-AC39-E546-B44A-D68322E9C158}"/>
    <dgm:cxn modelId="{91BDDC7A-9EF0-C245-868A-34CBE705EEEE}" type="presOf" srcId="{4336E4AA-C010-7446-8C59-AF3DE05E3ACD}" destId="{A84B09BA-6B69-F147-AB87-C478AAD48C6C}" srcOrd="1" destOrd="0" presId="urn:microsoft.com/office/officeart/2005/8/layout/list1"/>
    <dgm:cxn modelId="{7C179C7D-5867-DB4F-8817-8EA146285537}" type="presOf" srcId="{2F592661-FEE2-1248-8A9E-3067480A78A7}" destId="{FB6303A9-3349-4D46-B324-6915122B4262}" srcOrd="1" destOrd="0" presId="urn:microsoft.com/office/officeart/2005/8/layout/list1"/>
    <dgm:cxn modelId="{33846F8A-C849-E64E-93C0-73ED26DB2298}" type="presOf" srcId="{A16AF043-564F-554B-8F1A-585F0BF3FB33}" destId="{AE597B17-90AC-F44E-B97A-40D3A8319A62}" srcOrd="0" destOrd="0" presId="urn:microsoft.com/office/officeart/2005/8/layout/list1"/>
    <dgm:cxn modelId="{F4E5608F-FF51-1243-B180-0FB414E6D3B5}" srcId="{8E0C0855-70AF-B043-90E4-46F9FE6CBFF3}" destId="{BCA17355-2D96-4747-99D6-EA33595C737E}" srcOrd="3" destOrd="0" parTransId="{006BDFFF-01A2-1240-B5C1-DD38E6722136}" sibTransId="{011AB26A-CACE-B14E-B5D6-F3584924F869}"/>
    <dgm:cxn modelId="{A6C62A90-986C-4E47-93F5-02CA74878BF9}" srcId="{E9D06824-500D-E741-A01C-C04D1D781A88}" destId="{A16AF043-564F-554B-8F1A-585F0BF3FB33}" srcOrd="0" destOrd="0" parTransId="{D65611E1-F73C-DA49-95E2-063E9216D8C4}" sibTransId="{C0E5D24F-F2B0-1443-B9A1-3A8FB4715BEB}"/>
    <dgm:cxn modelId="{B56F0293-62A4-F643-A93B-F9C988C49AE2}" srcId="{2F592661-FEE2-1248-8A9E-3067480A78A7}" destId="{E57CC8AF-5C73-EC45-8793-D7756CCADAE4}" srcOrd="0" destOrd="0" parTransId="{DB57CFD5-A2B9-194B-AB90-C9EF80289B1F}" sibTransId="{A78C4511-D248-0A4C-AA07-870EB25F2179}"/>
    <dgm:cxn modelId="{A2D3399D-3311-E24D-AD22-8E286B835F24}" srcId="{8E0C0855-70AF-B043-90E4-46F9FE6CBFF3}" destId="{E9D06824-500D-E741-A01C-C04D1D781A88}" srcOrd="1" destOrd="0" parTransId="{B7B1B835-A7B5-EB4D-9C8E-A9897DD4297F}" sibTransId="{7B788EC2-6AC6-CD4F-8F52-9248C4D8972A}"/>
    <dgm:cxn modelId="{858E43AB-092E-FA4F-99B6-7AA827B9D609}" type="presOf" srcId="{78EB10E0-F721-AC4D-A160-4B484C82A08A}" destId="{C4122FD7-38F6-AA40-AB0E-7927444FE932}" srcOrd="1" destOrd="0" presId="urn:microsoft.com/office/officeart/2005/8/layout/list1"/>
    <dgm:cxn modelId="{A126D3AC-16C4-2D4C-952D-29D1BE6A163D}" type="presOf" srcId="{8E0C0855-70AF-B043-90E4-46F9FE6CBFF3}" destId="{4BAED75D-5BB6-224A-A55F-B7400B5E8E8B}" srcOrd="0" destOrd="0" presId="urn:microsoft.com/office/officeart/2005/8/layout/list1"/>
    <dgm:cxn modelId="{4B66B9AD-69C9-0F48-801C-4F6D5B3C01C4}" type="presOf" srcId="{4336E4AA-C010-7446-8C59-AF3DE05E3ACD}" destId="{61CD707A-2735-E848-BD19-364ECC55CD06}" srcOrd="0" destOrd="0" presId="urn:microsoft.com/office/officeart/2005/8/layout/list1"/>
    <dgm:cxn modelId="{3DE0DBB1-CBCF-9242-84F6-AAD53BD91C14}" srcId="{4336E4AA-C010-7446-8C59-AF3DE05E3ACD}" destId="{5C034D6F-CC6A-D549-8565-9A21CEEF31EA}" srcOrd="0" destOrd="0" parTransId="{6DC7DADA-2A4E-5742-B3DA-BC7CABF1BFBF}" sibTransId="{3166DED0-5B19-B047-A941-CCEFB1A03F9D}"/>
    <dgm:cxn modelId="{05643BB3-A2DB-274A-B23B-DFC79C0D4EC1}" type="presOf" srcId="{BCA17355-2D96-4747-99D6-EA33595C737E}" destId="{2B65C49F-ADF0-3E4F-A1E4-ABACEB106DF6}" srcOrd="1" destOrd="0" presId="urn:microsoft.com/office/officeart/2005/8/layout/list1"/>
    <dgm:cxn modelId="{A21587B7-A7C1-B449-AECA-4C258C619F67}" type="presOf" srcId="{BCA17355-2D96-4747-99D6-EA33595C737E}" destId="{227B6CE7-0F5A-6643-A272-D7C2988DF796}" srcOrd="0" destOrd="0" presId="urn:microsoft.com/office/officeart/2005/8/layout/list1"/>
    <dgm:cxn modelId="{5CE20FBB-C4E0-4F4D-9B2B-E56B44B6C7AA}" srcId="{8E0C0855-70AF-B043-90E4-46F9FE6CBFF3}" destId="{78EB10E0-F721-AC4D-A160-4B484C82A08A}" srcOrd="0" destOrd="0" parTransId="{34A1573A-BDD3-B242-AC91-F85C0AEA8E77}" sibTransId="{7D73B598-8290-E942-B20E-BBA91A517810}"/>
    <dgm:cxn modelId="{4E5E9CBB-B66A-D24B-BEFB-16B9863A5563}" type="presOf" srcId="{5939E81B-660D-9648-9E13-2F158298C88B}" destId="{E42F41B8-1375-AE45-B242-5A68E50B9C66}" srcOrd="0" destOrd="0" presId="urn:microsoft.com/office/officeart/2005/8/layout/list1"/>
    <dgm:cxn modelId="{7FCCDBD4-E5D3-7B44-A75C-E5E8EDCCF517}" type="presOf" srcId="{E9D06824-500D-E741-A01C-C04D1D781A88}" destId="{5B9B7B8C-8466-8D47-A884-8119BA5AC7AF}" srcOrd="0" destOrd="0" presId="urn:microsoft.com/office/officeart/2005/8/layout/list1"/>
    <dgm:cxn modelId="{165731F6-C80B-1140-8E6C-A1269A10E06C}" srcId="{8E0C0855-70AF-B043-90E4-46F9FE6CBFF3}" destId="{4336E4AA-C010-7446-8C59-AF3DE05E3ACD}" srcOrd="2" destOrd="0" parTransId="{AD5DF535-1C3F-6147-B59D-0B003298B0F8}" sibTransId="{862DAA8B-66A5-4E49-940C-DD02F0487B31}"/>
    <dgm:cxn modelId="{73CC88C7-7679-2643-BDFE-247073147CDC}" type="presParOf" srcId="{4BAED75D-5BB6-224A-A55F-B7400B5E8E8B}" destId="{B60DBB0D-558E-E347-A678-B534431FE02A}" srcOrd="0" destOrd="0" presId="urn:microsoft.com/office/officeart/2005/8/layout/list1"/>
    <dgm:cxn modelId="{4EDEEA03-C105-EF45-853C-5927DBA7AD8A}" type="presParOf" srcId="{B60DBB0D-558E-E347-A678-B534431FE02A}" destId="{5FD25DB4-3926-CA4A-BE9E-F9BAA8CAFA97}" srcOrd="0" destOrd="0" presId="urn:microsoft.com/office/officeart/2005/8/layout/list1"/>
    <dgm:cxn modelId="{27977CFB-C137-1546-A7BB-2149E48569D1}" type="presParOf" srcId="{B60DBB0D-558E-E347-A678-B534431FE02A}" destId="{C4122FD7-38F6-AA40-AB0E-7927444FE932}" srcOrd="1" destOrd="0" presId="urn:microsoft.com/office/officeart/2005/8/layout/list1"/>
    <dgm:cxn modelId="{9B095760-4CE5-7941-8E6F-959D12745659}" type="presParOf" srcId="{4BAED75D-5BB6-224A-A55F-B7400B5E8E8B}" destId="{76F1D4D9-C764-9D42-B40F-85A751EEE4FD}" srcOrd="1" destOrd="0" presId="urn:microsoft.com/office/officeart/2005/8/layout/list1"/>
    <dgm:cxn modelId="{3E0B7D9A-6290-9249-9C50-B452A6269C1C}" type="presParOf" srcId="{4BAED75D-5BB6-224A-A55F-B7400B5E8E8B}" destId="{0B904B9C-88E6-EF46-B78A-F46AE0AA9260}" srcOrd="2" destOrd="0" presId="urn:microsoft.com/office/officeart/2005/8/layout/list1"/>
    <dgm:cxn modelId="{0B3BFFA5-4C6F-CF47-8F08-F2DB344D3888}" type="presParOf" srcId="{4BAED75D-5BB6-224A-A55F-B7400B5E8E8B}" destId="{EC1F6B3B-0836-B848-BE10-C3FC8EF3DA52}" srcOrd="3" destOrd="0" presId="urn:microsoft.com/office/officeart/2005/8/layout/list1"/>
    <dgm:cxn modelId="{E3626867-B186-854B-9765-FD4E242C359F}" type="presParOf" srcId="{4BAED75D-5BB6-224A-A55F-B7400B5E8E8B}" destId="{33496C26-E5C2-7747-877A-63335708B5E3}" srcOrd="4" destOrd="0" presId="urn:microsoft.com/office/officeart/2005/8/layout/list1"/>
    <dgm:cxn modelId="{B370172C-1B71-E44C-BA4D-728B1F6B16FD}" type="presParOf" srcId="{33496C26-E5C2-7747-877A-63335708B5E3}" destId="{5B9B7B8C-8466-8D47-A884-8119BA5AC7AF}" srcOrd="0" destOrd="0" presId="urn:microsoft.com/office/officeart/2005/8/layout/list1"/>
    <dgm:cxn modelId="{2128AC57-321F-7E45-8CF2-0B07F07914C1}" type="presParOf" srcId="{33496C26-E5C2-7747-877A-63335708B5E3}" destId="{538C7D21-B8AF-DC4B-968C-7E29C89D839A}" srcOrd="1" destOrd="0" presId="urn:microsoft.com/office/officeart/2005/8/layout/list1"/>
    <dgm:cxn modelId="{70B9BCD1-BED8-F144-B185-34C1B104FEA2}" type="presParOf" srcId="{4BAED75D-5BB6-224A-A55F-B7400B5E8E8B}" destId="{05A84E67-2BB4-954A-8872-A55B4D766CD7}" srcOrd="5" destOrd="0" presId="urn:microsoft.com/office/officeart/2005/8/layout/list1"/>
    <dgm:cxn modelId="{E9A7B147-ACF9-3447-ACFB-3F8165B84F15}" type="presParOf" srcId="{4BAED75D-5BB6-224A-A55F-B7400B5E8E8B}" destId="{AE597B17-90AC-F44E-B97A-40D3A8319A62}" srcOrd="6" destOrd="0" presId="urn:microsoft.com/office/officeart/2005/8/layout/list1"/>
    <dgm:cxn modelId="{E540BB98-D3AF-014A-8A82-048B91CEBE1A}" type="presParOf" srcId="{4BAED75D-5BB6-224A-A55F-B7400B5E8E8B}" destId="{BEE8243B-75A6-7640-AAAD-F5EDD099B08C}" srcOrd="7" destOrd="0" presId="urn:microsoft.com/office/officeart/2005/8/layout/list1"/>
    <dgm:cxn modelId="{43D5E2F3-32C0-6143-9A4A-92AFF63621E1}" type="presParOf" srcId="{4BAED75D-5BB6-224A-A55F-B7400B5E8E8B}" destId="{6EA2D241-9E13-FA47-BA2E-26D220337920}" srcOrd="8" destOrd="0" presId="urn:microsoft.com/office/officeart/2005/8/layout/list1"/>
    <dgm:cxn modelId="{A465247A-9EF4-9645-8A25-10F6B531E39D}" type="presParOf" srcId="{6EA2D241-9E13-FA47-BA2E-26D220337920}" destId="{61CD707A-2735-E848-BD19-364ECC55CD06}" srcOrd="0" destOrd="0" presId="urn:microsoft.com/office/officeart/2005/8/layout/list1"/>
    <dgm:cxn modelId="{1550E053-6D6F-8C4B-A9E5-5E13841D4A0B}" type="presParOf" srcId="{6EA2D241-9E13-FA47-BA2E-26D220337920}" destId="{A84B09BA-6B69-F147-AB87-C478AAD48C6C}" srcOrd="1" destOrd="0" presId="urn:microsoft.com/office/officeart/2005/8/layout/list1"/>
    <dgm:cxn modelId="{42560B74-DC3F-1D43-AC8A-EAD96D4A2D4D}" type="presParOf" srcId="{4BAED75D-5BB6-224A-A55F-B7400B5E8E8B}" destId="{CFA44553-D956-994A-8BA1-7341F1F87669}" srcOrd="9" destOrd="0" presId="urn:microsoft.com/office/officeart/2005/8/layout/list1"/>
    <dgm:cxn modelId="{1892641A-48AE-FE4C-9D0D-345CFD8E91C0}" type="presParOf" srcId="{4BAED75D-5BB6-224A-A55F-B7400B5E8E8B}" destId="{06C7AE03-7420-404A-BA52-464699CA51D8}" srcOrd="10" destOrd="0" presId="urn:microsoft.com/office/officeart/2005/8/layout/list1"/>
    <dgm:cxn modelId="{95E1CCFE-E166-104B-98B3-993CC7EE8FD7}" type="presParOf" srcId="{4BAED75D-5BB6-224A-A55F-B7400B5E8E8B}" destId="{E38B34D4-7156-5C4C-9867-2F434A391751}" srcOrd="11" destOrd="0" presId="urn:microsoft.com/office/officeart/2005/8/layout/list1"/>
    <dgm:cxn modelId="{DFBE1321-D60D-E94C-8746-47D207CD33E6}" type="presParOf" srcId="{4BAED75D-5BB6-224A-A55F-B7400B5E8E8B}" destId="{9C74B8C1-4805-0541-9A9E-425A6BBECEBE}" srcOrd="12" destOrd="0" presId="urn:microsoft.com/office/officeart/2005/8/layout/list1"/>
    <dgm:cxn modelId="{28A61E1C-1C57-234C-AFCE-4695EB3F96B8}" type="presParOf" srcId="{9C74B8C1-4805-0541-9A9E-425A6BBECEBE}" destId="{227B6CE7-0F5A-6643-A272-D7C2988DF796}" srcOrd="0" destOrd="0" presId="urn:microsoft.com/office/officeart/2005/8/layout/list1"/>
    <dgm:cxn modelId="{5AE75681-9D82-1E41-A355-55F0F584F0DE}" type="presParOf" srcId="{9C74B8C1-4805-0541-9A9E-425A6BBECEBE}" destId="{2B65C49F-ADF0-3E4F-A1E4-ABACEB106DF6}" srcOrd="1" destOrd="0" presId="urn:microsoft.com/office/officeart/2005/8/layout/list1"/>
    <dgm:cxn modelId="{2C9BC8E0-C2CA-C747-BBAE-FA74240DF18E}" type="presParOf" srcId="{4BAED75D-5BB6-224A-A55F-B7400B5E8E8B}" destId="{3D9B63E2-5D0E-564D-A229-F520965478C2}" srcOrd="13" destOrd="0" presId="urn:microsoft.com/office/officeart/2005/8/layout/list1"/>
    <dgm:cxn modelId="{29368887-A1DD-A84B-A9F2-9564A601C66A}" type="presParOf" srcId="{4BAED75D-5BB6-224A-A55F-B7400B5E8E8B}" destId="{E42F41B8-1375-AE45-B242-5A68E50B9C66}" srcOrd="14" destOrd="0" presId="urn:microsoft.com/office/officeart/2005/8/layout/list1"/>
    <dgm:cxn modelId="{C97DC7B6-A52D-2B4D-BFC9-B4C5CBFA4756}" type="presParOf" srcId="{4BAED75D-5BB6-224A-A55F-B7400B5E8E8B}" destId="{C2CE15B0-3787-D440-963A-0D301C4552C4}" srcOrd="15" destOrd="0" presId="urn:microsoft.com/office/officeart/2005/8/layout/list1"/>
    <dgm:cxn modelId="{E7713432-AD21-2B45-A9DC-8E3E9CFDBBF1}" type="presParOf" srcId="{4BAED75D-5BB6-224A-A55F-B7400B5E8E8B}" destId="{42D868A4-7688-2743-81D0-1C178B61C88D}" srcOrd="16" destOrd="0" presId="urn:microsoft.com/office/officeart/2005/8/layout/list1"/>
    <dgm:cxn modelId="{D3F5F893-90E4-264C-A944-746068D19D5E}" type="presParOf" srcId="{42D868A4-7688-2743-81D0-1C178B61C88D}" destId="{B6FEAD76-C308-5147-B072-ADC1B87FF79C}" srcOrd="0" destOrd="0" presId="urn:microsoft.com/office/officeart/2005/8/layout/list1"/>
    <dgm:cxn modelId="{01119927-DCEE-5E4F-BE78-8E60F4A14B2F}" type="presParOf" srcId="{42D868A4-7688-2743-81D0-1C178B61C88D}" destId="{FB6303A9-3349-4D46-B324-6915122B4262}" srcOrd="1" destOrd="0" presId="urn:microsoft.com/office/officeart/2005/8/layout/list1"/>
    <dgm:cxn modelId="{0B172EB8-90D4-0D48-A92B-F0884254E6C2}" type="presParOf" srcId="{4BAED75D-5BB6-224A-A55F-B7400B5E8E8B}" destId="{3BAA9B95-56CD-834F-9C40-D2FFB991103D}" srcOrd="17" destOrd="0" presId="urn:microsoft.com/office/officeart/2005/8/layout/list1"/>
    <dgm:cxn modelId="{09F18DD9-A2B7-A549-B233-9417106F952B}" type="presParOf" srcId="{4BAED75D-5BB6-224A-A55F-B7400B5E8E8B}" destId="{5DD736BC-250B-4D42-8CB1-CDB8D51AF91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904B9C-88E6-EF46-B78A-F46AE0AA9260}">
      <dsp:nvSpPr>
        <dsp:cNvPr id="0" name=""/>
        <dsp:cNvSpPr/>
      </dsp:nvSpPr>
      <dsp:spPr>
        <a:xfrm>
          <a:off x="0" y="395912"/>
          <a:ext cx="12191998" cy="7229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235" tIns="354076" rIns="946235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noProof="0" dirty="0" err="1"/>
            <a:t>Deliwala</a:t>
          </a:r>
          <a:r>
            <a:rPr lang="en-GB" sz="1700" kern="1200" noProof="0" dirty="0"/>
            <a:t>, P. et al. purposed an SDN approach using machine learning to detect the link flooding attack in ICS.</a:t>
          </a:r>
        </a:p>
      </dsp:txBody>
      <dsp:txXfrm>
        <a:off x="0" y="395912"/>
        <a:ext cx="12191998" cy="722924"/>
      </dsp:txXfrm>
    </dsp:sp>
    <dsp:sp modelId="{C4122FD7-38F6-AA40-AB0E-7927444FE932}">
      <dsp:nvSpPr>
        <dsp:cNvPr id="0" name=""/>
        <dsp:cNvSpPr/>
      </dsp:nvSpPr>
      <dsp:spPr>
        <a:xfrm>
          <a:off x="609599" y="144992"/>
          <a:ext cx="8534398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noProof="0" dirty="0"/>
            <a:t>Machine Learning</a:t>
          </a:r>
        </a:p>
      </dsp:txBody>
      <dsp:txXfrm>
        <a:off x="634097" y="169490"/>
        <a:ext cx="8485402" cy="452844"/>
      </dsp:txXfrm>
    </dsp:sp>
    <dsp:sp modelId="{AE597B17-90AC-F44E-B97A-40D3A8319A62}">
      <dsp:nvSpPr>
        <dsp:cNvPr id="0" name=""/>
        <dsp:cNvSpPr/>
      </dsp:nvSpPr>
      <dsp:spPr>
        <a:xfrm>
          <a:off x="0" y="1461557"/>
          <a:ext cx="12191998" cy="7229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235" tIns="354076" rIns="946235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noProof="0" dirty="0" err="1"/>
            <a:t>Ndonda</a:t>
          </a:r>
          <a:r>
            <a:rPr lang="en-GB" sz="1700" kern="1200" noProof="0" dirty="0"/>
            <a:t>, GK. and </a:t>
          </a:r>
          <a:r>
            <a:rPr lang="en-GB" sz="1700" kern="1200" noProof="0" dirty="0" err="1"/>
            <a:t>Sadre</a:t>
          </a:r>
          <a:r>
            <a:rPr lang="en-GB" sz="1700" kern="1200" noProof="0" dirty="0"/>
            <a:t>, R. put forward an SDN-based multipath routing algorithm to prevent eavesdropping in ICS.</a:t>
          </a:r>
        </a:p>
      </dsp:txBody>
      <dsp:txXfrm>
        <a:off x="0" y="1461557"/>
        <a:ext cx="12191998" cy="722924"/>
      </dsp:txXfrm>
    </dsp:sp>
    <dsp:sp modelId="{538C7D21-B8AF-DC4B-968C-7E29C89D839A}">
      <dsp:nvSpPr>
        <dsp:cNvPr id="0" name=""/>
        <dsp:cNvSpPr/>
      </dsp:nvSpPr>
      <dsp:spPr>
        <a:xfrm>
          <a:off x="609599" y="1210637"/>
          <a:ext cx="8534398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noProof="0" dirty="0"/>
            <a:t>Multipath Routing</a:t>
          </a:r>
        </a:p>
      </dsp:txBody>
      <dsp:txXfrm>
        <a:off x="634097" y="1235135"/>
        <a:ext cx="8485402" cy="452844"/>
      </dsp:txXfrm>
    </dsp:sp>
    <dsp:sp modelId="{06C7AE03-7420-404A-BA52-464699CA51D8}">
      <dsp:nvSpPr>
        <dsp:cNvPr id="0" name=""/>
        <dsp:cNvSpPr/>
      </dsp:nvSpPr>
      <dsp:spPr>
        <a:xfrm>
          <a:off x="0" y="2527202"/>
          <a:ext cx="12191998" cy="7229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235" tIns="354076" rIns="946235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noProof="0" dirty="0"/>
            <a:t>Byun, M. et al. discussed the traffic blocking based on IP and ingress port against IP spoofing.</a:t>
          </a:r>
        </a:p>
      </dsp:txBody>
      <dsp:txXfrm>
        <a:off x="0" y="2527202"/>
        <a:ext cx="12191998" cy="722924"/>
      </dsp:txXfrm>
    </dsp:sp>
    <dsp:sp modelId="{A84B09BA-6B69-F147-AB87-C478AAD48C6C}">
      <dsp:nvSpPr>
        <dsp:cNvPr id="0" name=""/>
        <dsp:cNvSpPr/>
      </dsp:nvSpPr>
      <dsp:spPr>
        <a:xfrm>
          <a:off x="609599" y="2276282"/>
          <a:ext cx="8534398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noProof="0" dirty="0"/>
            <a:t>Flow-based Traffic Blocking Criteria</a:t>
          </a:r>
        </a:p>
      </dsp:txBody>
      <dsp:txXfrm>
        <a:off x="634097" y="2300780"/>
        <a:ext cx="8485402" cy="452844"/>
      </dsp:txXfrm>
    </dsp:sp>
    <dsp:sp modelId="{E42F41B8-1375-AE45-B242-5A68E50B9C66}">
      <dsp:nvSpPr>
        <dsp:cNvPr id="0" name=""/>
        <dsp:cNvSpPr/>
      </dsp:nvSpPr>
      <dsp:spPr>
        <a:xfrm>
          <a:off x="0" y="3592847"/>
          <a:ext cx="12191998" cy="7229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235" tIns="354076" rIns="946235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noProof="0" dirty="0"/>
            <a:t>Wang, F. et al. presented an active SDN countermeasure based on moving target defence.</a:t>
          </a:r>
        </a:p>
      </dsp:txBody>
      <dsp:txXfrm>
        <a:off x="0" y="3592847"/>
        <a:ext cx="12191998" cy="722924"/>
      </dsp:txXfrm>
    </dsp:sp>
    <dsp:sp modelId="{2B65C49F-ADF0-3E4F-A1E4-ABACEB106DF6}">
      <dsp:nvSpPr>
        <dsp:cNvPr id="0" name=""/>
        <dsp:cNvSpPr/>
      </dsp:nvSpPr>
      <dsp:spPr>
        <a:xfrm>
          <a:off x="609599" y="3341927"/>
          <a:ext cx="8534398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noProof="0" dirty="0"/>
            <a:t>Moving Target Defence</a:t>
          </a:r>
        </a:p>
      </dsp:txBody>
      <dsp:txXfrm>
        <a:off x="634097" y="3366425"/>
        <a:ext cx="8485402" cy="452844"/>
      </dsp:txXfrm>
    </dsp:sp>
    <dsp:sp modelId="{5DD736BC-250B-4D42-8CB1-CDB8D51AF917}">
      <dsp:nvSpPr>
        <dsp:cNvPr id="0" name=""/>
        <dsp:cNvSpPr/>
      </dsp:nvSpPr>
      <dsp:spPr>
        <a:xfrm>
          <a:off x="0" y="4658492"/>
          <a:ext cx="12191998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235" tIns="354076" rIns="946235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noProof="0" dirty="0"/>
            <a:t>Hong, K. et al. designed a countermeasure against slow HTTP attack based on incomplete HTTP requests with long timeout.</a:t>
          </a:r>
        </a:p>
      </dsp:txBody>
      <dsp:txXfrm>
        <a:off x="0" y="4658492"/>
        <a:ext cx="12191998" cy="963900"/>
      </dsp:txXfrm>
    </dsp:sp>
    <dsp:sp modelId="{FB6303A9-3349-4D46-B324-6915122B4262}">
      <dsp:nvSpPr>
        <dsp:cNvPr id="0" name=""/>
        <dsp:cNvSpPr/>
      </dsp:nvSpPr>
      <dsp:spPr>
        <a:xfrm>
          <a:off x="609599" y="4407572"/>
          <a:ext cx="8534398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noProof="0" dirty="0"/>
            <a:t>Inspection-based Slow HTTP Defence</a:t>
          </a:r>
        </a:p>
      </dsp:txBody>
      <dsp:txXfrm>
        <a:off x="634097" y="4432070"/>
        <a:ext cx="8485402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0E31E-13F4-6F4C-A1CE-E43C5FAC1054}" type="datetimeFigureOut">
              <a:rPr lang="en-CN" smtClean="0"/>
              <a:t>2023/6/10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EDFA5-F3E7-E643-B36A-EAB84F3028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0079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CN" dirty="0"/>
              <a:t>urpose and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EDFA5-F3E7-E643-B36A-EAB84F302886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39549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CN" dirty="0"/>
              <a:t>urpose and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EDFA5-F3E7-E643-B36A-EAB84F302886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23476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Their prior work is too generalised without specific consideration of Modbus/TCP protocol, or too complex for slow HTTP attack.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EDFA5-F3E7-E643-B36A-EAB84F302886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19582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Finished work: 1. ICS network appliances, deployment, and configuration; 2. Scada-LTS controls OpenPLC; 3. KaliLinux attacks OpenPLC via Modbus/TCP;</a:t>
            </a:r>
          </a:p>
          <a:p>
            <a:r>
              <a:rPr lang="en-CN" dirty="0"/>
              <a:t>ASAv: OSPF, ACLs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EDFA5-F3E7-E643-B36A-EAB84F302886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42156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Consider location of KaliLinux and OVSes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EDFA5-F3E7-E643-B36A-EAB84F302886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19589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CN" dirty="0"/>
              <a:t>ef 4 Data 0001 -&gt; manual mode; Ref 5 Data 0001 -&gt; heater 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EDFA5-F3E7-E643-B36A-EAB84F302886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47034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Consider detection interval between cycles, threshold, and flow matching criteria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EDFA5-F3E7-E643-B36A-EAB84F302886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7389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CN" dirty="0"/>
              <a:t>ef 4 Data 0001 -&gt; manual mode; Ref 5 Data 0001 -&gt; heater 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EDFA5-F3E7-E643-B36A-EAB84F302886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8180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Consider detection interval between cycles, threshold, and flow matching criteria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EDFA5-F3E7-E643-B36A-EAB84F302886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4568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F1D54-F7EB-A094-AE3A-29F31E766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B255D-F9C4-B1FA-7F0A-9FD44B6B3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4CB2A-C90D-3BDC-2AE8-B375B2373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F8FF-D07C-8A4F-BFFE-FCF330091D7F}" type="datetimeFigureOut">
              <a:rPr lang="en-CN" smtClean="0"/>
              <a:t>2023/6/10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CBC7D-66AF-43B1-D4D6-64D38F8BE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927F8-A7B1-5DA9-00F4-B5B921BF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0829-29ED-2B44-AA1A-D5659734F8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53148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5DA6-A759-BC23-0FE1-9F760A8A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4F268-09D6-84F3-B220-F3612683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F5AF0-5BDD-A781-ABD4-8A3F0185A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F8FF-D07C-8A4F-BFFE-FCF330091D7F}" type="datetimeFigureOut">
              <a:rPr lang="en-CN" smtClean="0"/>
              <a:t>2023/6/10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96A75-3EE4-9C55-CE22-A5D05B17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469A9-E5F8-8C8C-5EEC-6318B4CB7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0829-29ED-2B44-AA1A-D5659734F8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34661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29B50-4273-317A-142F-2E83A6F8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478FD-B08C-4DD0-0678-3913B7A89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8916E-B142-EED5-99BC-824FA3FB2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F8FF-D07C-8A4F-BFFE-FCF330091D7F}" type="datetimeFigureOut">
              <a:rPr lang="en-CN" smtClean="0"/>
              <a:t>2023/6/10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B26A7-3B59-547D-CE44-09F81F2B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B651C-94F5-6AC8-BCB6-4EBA67E8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0829-29ED-2B44-AA1A-D5659734F8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95819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DD87-97EF-1A8F-04EF-0936B24C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C4BFD-4232-F8D6-84DB-8C6CC715B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D7D251-AF11-CD78-7E76-9979FC4A9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79D2F-A603-7CEC-2CAB-75909C0E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F8FF-D07C-8A4F-BFFE-FCF330091D7F}" type="datetimeFigureOut">
              <a:rPr lang="en-CN" smtClean="0"/>
              <a:t>2023/6/10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A9A92-5ABD-7BB2-F3B5-C18201D7B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4FA93-5B17-7A8C-06B8-5A5FDD143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0829-29ED-2B44-AA1A-D5659734F8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1972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36673-3E0F-4F01-2385-8CFB3746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9C466-E8FD-9B37-8C2A-105FB9C16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A22B6-CD44-2215-C78F-EB829BFE6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DDBCEA-F91F-C7BD-8CE1-CB5FF8E06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74AF99-DBFA-129E-7AFF-1097618BA1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22F6BB-790E-4439-D5C1-21739E74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F8FF-D07C-8A4F-BFFE-FCF330091D7F}" type="datetimeFigureOut">
              <a:rPr lang="en-CN" smtClean="0"/>
              <a:t>2023/6/10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0904E0-EEE8-72BA-2726-6184A535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F04E25-23AA-DEBA-C0E0-627C080A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0829-29ED-2B44-AA1A-D5659734F8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41441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1A814-628D-2186-3ACE-519AF8CE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2EC57C-F174-DA62-1F31-50DBB2673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F8FF-D07C-8A4F-BFFE-FCF330091D7F}" type="datetimeFigureOut">
              <a:rPr lang="en-CN" smtClean="0"/>
              <a:t>2023/6/10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B6EFEC-C344-A0FA-0B11-FC41FCA0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95D994-048C-424A-F403-2EB52D97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0829-29ED-2B44-AA1A-D5659734F8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4968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F6CAA3-BB86-EFA4-FFC2-C2C0F16EB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F8FF-D07C-8A4F-BFFE-FCF330091D7F}" type="datetimeFigureOut">
              <a:rPr lang="en-CN" smtClean="0"/>
              <a:t>2023/6/10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18FB2-E167-2F78-7FD9-54AF200F5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9BDA6-2995-925C-C58F-66323F70A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0829-29ED-2B44-AA1A-D5659734F8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6518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BB1AC-F70F-7395-4261-5EA6AFA78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43CFE-97F7-FBC5-AC4E-0B8A4B90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9A919-2EE5-5AFC-E180-33E4DEC92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060EB-FEBE-4496-06C4-6282B7EE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F8FF-D07C-8A4F-BFFE-FCF330091D7F}" type="datetimeFigureOut">
              <a:rPr lang="en-CN" smtClean="0"/>
              <a:t>2023/6/10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FF748-02F5-8468-AFA7-18DA5D21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9632C-4D8C-FB2D-8E92-B0BF5A6B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0829-29ED-2B44-AA1A-D5659734F8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2233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162EC-BE8E-3CB3-18ED-972FAB06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F9D5F-FEE9-3F98-83FA-22582B9D5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08387-F16D-66A6-7FE1-313064E34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E6A10-9961-02A8-26D2-13714DDCA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F8FF-D07C-8A4F-BFFE-FCF330091D7F}" type="datetimeFigureOut">
              <a:rPr lang="en-CN" smtClean="0"/>
              <a:t>2023/6/10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7F988-E770-6901-3C17-2372B7E56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4DC52-C7F4-C5CC-16C7-F6FEFB6FE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0829-29ED-2B44-AA1A-D5659734F8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08568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C595-C6E4-9272-6F11-BD91972A0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6E7C46-9FE2-D5D9-AF59-125403573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0B03A-0887-A334-EC20-DA5A1B4C9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F8FF-D07C-8A4F-BFFE-FCF330091D7F}" type="datetimeFigureOut">
              <a:rPr lang="en-CN" smtClean="0"/>
              <a:t>2023/6/10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7E131-96BE-7394-3231-83EEFBEA9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D7ED-6757-7519-FC5B-3919FFF1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0829-29ED-2B44-AA1A-D5659734F8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5173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E960A0-8AB8-0A92-483D-017D2B0A54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2C501-CA9D-B037-77B2-E14C5A46F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85BEF-FD0F-7DE5-95AD-1090C6821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F8FF-D07C-8A4F-BFFE-FCF330091D7F}" type="datetimeFigureOut">
              <a:rPr lang="en-CN" smtClean="0"/>
              <a:t>2023/6/10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698B1-AC7C-0A34-4AE1-8E194A85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B82E1-C2B7-0ABD-8B1F-0981BBE4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0829-29ED-2B44-AA1A-D5659734F8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6700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844101-BBE7-2D1C-B6B4-4423E9E2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E707A-72F5-B8E9-744B-E02EBE255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A464F-6D0D-DBC4-595D-6B4B6E206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DF8FF-D07C-8A4F-BFFE-FCF330091D7F}" type="datetimeFigureOut">
              <a:rPr lang="en-CN" smtClean="0"/>
              <a:t>2023/6/10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847D1-8043-6CD5-CAF7-BB83DD393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2351F-E1EC-D104-7935-F468DF38D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E70829-29ED-2B44-AA1A-D5659734F8E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5041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0004448-78AA-9DE1-51A8-FBD382303C55}"/>
              </a:ext>
            </a:extLst>
          </p:cNvPr>
          <p:cNvSpPr txBox="1"/>
          <p:nvPr/>
        </p:nvSpPr>
        <p:spPr>
          <a:xfrm>
            <a:off x="0" y="2208513"/>
            <a:ext cx="12191999" cy="2062103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CN" sz="8000" b="1" u="sng" dirty="0">
                <a:latin typeface="+mj-lt"/>
              </a:rPr>
              <a:t>Industrial Control System</a:t>
            </a:r>
            <a:r>
              <a:rPr lang="en-CN" sz="8000" b="1" dirty="0">
                <a:latin typeface="+mj-lt"/>
              </a:rPr>
              <a:t>:</a:t>
            </a:r>
          </a:p>
          <a:p>
            <a:pPr algn="ctr"/>
            <a:r>
              <a:rPr lang="en-CN" sz="4800" b="1" i="1" dirty="0">
                <a:latin typeface="+mj-lt"/>
              </a:rPr>
              <a:t>Attack &amp; Defence on Modbus and HTTP</a:t>
            </a:r>
            <a:endParaRPr lang="en-CN" sz="5400" b="1" i="1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DC4FEA-18EB-2920-63EE-BC63F3F72196}"/>
              </a:ext>
            </a:extLst>
          </p:cNvPr>
          <p:cNvSpPr txBox="1"/>
          <p:nvPr/>
        </p:nvSpPr>
        <p:spPr>
          <a:xfrm>
            <a:off x="1" y="4664886"/>
            <a:ext cx="12191999" cy="584775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CN" sz="3200" b="1" i="1">
                <a:latin typeface="+mj-lt"/>
              </a:rPr>
              <a:t>Ziyao Wang</a:t>
            </a:r>
            <a:endParaRPr lang="en-CN" sz="3200" b="1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1987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924B004D-CB77-6CF4-5B92-C30D6A079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9" y="967108"/>
            <a:ext cx="11212552" cy="58908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004448-78AA-9DE1-51A8-FBD382303C55}"/>
              </a:ext>
            </a:extLst>
          </p:cNvPr>
          <p:cNvSpPr txBox="1"/>
          <p:nvPr/>
        </p:nvSpPr>
        <p:spPr>
          <a:xfrm>
            <a:off x="1" y="8313"/>
            <a:ext cx="12191999" cy="646331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CN" sz="3600" b="1" u="sng" dirty="0">
                <a:latin typeface="+mj-lt"/>
              </a:rPr>
              <a:t>Industrial Control System</a:t>
            </a:r>
            <a:r>
              <a:rPr lang="en-CN" sz="3600" b="1" dirty="0">
                <a:latin typeface="+mj-lt"/>
              </a:rPr>
              <a:t>: </a:t>
            </a:r>
            <a:r>
              <a:rPr lang="en-CN" sz="3600" b="1" i="1" dirty="0">
                <a:latin typeface="+mj-lt"/>
              </a:rPr>
              <a:t>Attack &amp; Defence on Modbus and HTTP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360D97-F3A8-2EF0-30A8-8F6E786A3A39}"/>
              </a:ext>
            </a:extLst>
          </p:cNvPr>
          <p:cNvSpPr txBox="1"/>
          <p:nvPr/>
        </p:nvSpPr>
        <p:spPr>
          <a:xfrm>
            <a:off x="0" y="2767280"/>
            <a:ext cx="12192000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8000" dirty="0"/>
              <a:t>1.1 Purpose and Background</a:t>
            </a:r>
          </a:p>
        </p:txBody>
      </p:sp>
    </p:spTree>
    <p:extLst>
      <p:ext uri="{BB962C8B-B14F-4D97-AF65-F5344CB8AC3E}">
        <p14:creationId xmlns:p14="http://schemas.microsoft.com/office/powerpoint/2010/main" val="207078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4F62B40-22BF-6547-2E28-0AD84503F7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2825487"/>
              </p:ext>
            </p:extLst>
          </p:nvPr>
        </p:nvGraphicFramePr>
        <p:xfrm>
          <a:off x="2" y="1090615"/>
          <a:ext cx="12191998" cy="57673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CE4E65D-26FB-9D49-076E-F9F3FEF0CF5E}"/>
              </a:ext>
            </a:extLst>
          </p:cNvPr>
          <p:cNvSpPr txBox="1"/>
          <p:nvPr/>
        </p:nvSpPr>
        <p:spPr>
          <a:xfrm>
            <a:off x="1" y="8313"/>
            <a:ext cx="12191999" cy="646331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CN" sz="3600" b="1" u="sng" dirty="0">
                <a:latin typeface="+mj-lt"/>
              </a:rPr>
              <a:t>Industrial Control System</a:t>
            </a:r>
            <a:r>
              <a:rPr lang="en-CN" sz="3600" b="1" dirty="0">
                <a:latin typeface="+mj-lt"/>
              </a:rPr>
              <a:t>: </a:t>
            </a:r>
            <a:r>
              <a:rPr lang="en-CN" sz="3600" b="1" i="1" dirty="0">
                <a:latin typeface="+mj-lt"/>
              </a:rPr>
              <a:t>Attack &amp; Defence on Modbus and HTTP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C2D31-8A54-A096-7514-34A52C57F9C5}"/>
              </a:ext>
            </a:extLst>
          </p:cNvPr>
          <p:cNvSpPr txBox="1"/>
          <p:nvPr/>
        </p:nvSpPr>
        <p:spPr>
          <a:xfrm>
            <a:off x="3" y="2767280"/>
            <a:ext cx="12191997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8000" dirty="0"/>
              <a:t>1.2 Prior Work</a:t>
            </a:r>
          </a:p>
        </p:txBody>
      </p:sp>
    </p:spTree>
    <p:extLst>
      <p:ext uri="{BB962C8B-B14F-4D97-AF65-F5344CB8AC3E}">
        <p14:creationId xmlns:p14="http://schemas.microsoft.com/office/powerpoint/2010/main" val="5607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, diagram&#10;&#10;Description automatically generated">
            <a:extLst>
              <a:ext uri="{FF2B5EF4-FFF2-40B4-BE49-F238E27FC236}">
                <a16:creationId xmlns:a16="http://schemas.microsoft.com/office/drawing/2014/main" id="{EEAC120F-B3B8-C827-6B7B-6E3F782EB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18" y="0"/>
            <a:ext cx="1064516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292E97-3724-2FEE-482C-2F5466FF91F0}"/>
              </a:ext>
            </a:extLst>
          </p:cNvPr>
          <p:cNvSpPr txBox="1"/>
          <p:nvPr/>
        </p:nvSpPr>
        <p:spPr>
          <a:xfrm>
            <a:off x="6191795" y="5449371"/>
            <a:ext cx="52267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400" dirty="0">
                <a:latin typeface="+mj-lt"/>
              </a:rPr>
              <a:t>Generic Base Network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CF9A95A-13A6-B076-BF70-DBD9C803A6C6}"/>
              </a:ext>
            </a:extLst>
          </p:cNvPr>
          <p:cNvGrpSpPr/>
          <p:nvPr/>
        </p:nvGrpSpPr>
        <p:grpSpPr>
          <a:xfrm>
            <a:off x="1262742" y="2325189"/>
            <a:ext cx="4833257" cy="4532811"/>
            <a:chOff x="1262742" y="2325189"/>
            <a:chExt cx="4833257" cy="453281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0F13B76-35E4-DC78-B076-BB3D2A459B71}"/>
                </a:ext>
              </a:extLst>
            </p:cNvPr>
            <p:cNvSpPr/>
            <p:nvPr/>
          </p:nvSpPr>
          <p:spPr>
            <a:xfrm>
              <a:off x="1262742" y="2325189"/>
              <a:ext cx="4833257" cy="4532811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1F726C-78F7-A174-4F69-43932DD134B7}"/>
                </a:ext>
              </a:extLst>
            </p:cNvPr>
            <p:cNvSpPr txBox="1"/>
            <p:nvPr/>
          </p:nvSpPr>
          <p:spPr>
            <a:xfrm>
              <a:off x="3198050" y="5541703"/>
              <a:ext cx="9626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3200" dirty="0"/>
                <a:t>Core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113F853-27AD-4AD6-D642-55679D954D44}"/>
              </a:ext>
            </a:extLst>
          </p:cNvPr>
          <p:cNvGrpSpPr/>
          <p:nvPr/>
        </p:nvGrpSpPr>
        <p:grpSpPr>
          <a:xfrm>
            <a:off x="931817" y="-1"/>
            <a:ext cx="4659086" cy="2151017"/>
            <a:chOff x="931817" y="-1"/>
            <a:chExt cx="4659086" cy="215101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402CFAC-9FAB-D6D4-48C6-7EDA6C53BD6F}"/>
                </a:ext>
              </a:extLst>
            </p:cNvPr>
            <p:cNvSpPr/>
            <p:nvPr/>
          </p:nvSpPr>
          <p:spPr>
            <a:xfrm>
              <a:off x="931817" y="-1"/>
              <a:ext cx="2333897" cy="2151017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FEAC8B-AE97-574B-CB6A-8DE8FF29951D}"/>
                </a:ext>
              </a:extLst>
            </p:cNvPr>
            <p:cNvSpPr txBox="1"/>
            <p:nvPr/>
          </p:nvSpPr>
          <p:spPr>
            <a:xfrm>
              <a:off x="3424113" y="146745"/>
              <a:ext cx="216679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3200" dirty="0"/>
                <a:t>Data Centre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3658CD9-D942-8015-93A4-7D90BFEEED1D}"/>
              </a:ext>
            </a:extLst>
          </p:cNvPr>
          <p:cNvGrpSpPr/>
          <p:nvPr/>
        </p:nvGrpSpPr>
        <p:grpSpPr>
          <a:xfrm>
            <a:off x="6585323" y="2325189"/>
            <a:ext cx="4493622" cy="2851180"/>
            <a:chOff x="6585323" y="2325189"/>
            <a:chExt cx="4493622" cy="285118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73D26A-F504-4C93-E961-8A9C42984619}"/>
                </a:ext>
              </a:extLst>
            </p:cNvPr>
            <p:cNvSpPr/>
            <p:nvPr/>
          </p:nvSpPr>
          <p:spPr>
            <a:xfrm>
              <a:off x="6679474" y="2325189"/>
              <a:ext cx="2786743" cy="2229394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90E0E7-AAA7-0D13-301C-6745E66E5145}"/>
                </a:ext>
              </a:extLst>
            </p:cNvPr>
            <p:cNvSpPr txBox="1"/>
            <p:nvPr/>
          </p:nvSpPr>
          <p:spPr>
            <a:xfrm>
              <a:off x="6585323" y="4591594"/>
              <a:ext cx="44936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3200" dirty="0"/>
                <a:t>Demilitarised Zone (DMZ)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8299489-E87C-9221-EF5C-6389842EC096}"/>
              </a:ext>
            </a:extLst>
          </p:cNvPr>
          <p:cNvGrpSpPr/>
          <p:nvPr/>
        </p:nvGrpSpPr>
        <p:grpSpPr>
          <a:xfrm>
            <a:off x="3139366" y="923036"/>
            <a:ext cx="2016044" cy="1210637"/>
            <a:chOff x="3139366" y="923036"/>
            <a:chExt cx="2016044" cy="121063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8B0C9BA-29DD-0600-D9E7-085B0319CF2A}"/>
                </a:ext>
              </a:extLst>
            </p:cNvPr>
            <p:cNvSpPr/>
            <p:nvPr/>
          </p:nvSpPr>
          <p:spPr>
            <a:xfrm>
              <a:off x="3139366" y="1053665"/>
              <a:ext cx="1080008" cy="1080008"/>
            </a:xfrm>
            <a:prstGeom prst="ellipse">
              <a:avLst/>
            </a:prstGeom>
            <a:noFill/>
            <a:ln w="762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AC698B-993D-4297-B821-F1157B89A93C}"/>
                </a:ext>
              </a:extLst>
            </p:cNvPr>
            <p:cNvSpPr txBox="1"/>
            <p:nvPr/>
          </p:nvSpPr>
          <p:spPr>
            <a:xfrm>
              <a:off x="4219374" y="923036"/>
              <a:ext cx="93603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2400" u="sng" dirty="0"/>
                <a:t>ASAv</a:t>
              </a:r>
            </a:p>
            <a:p>
              <a:r>
                <a:rPr lang="en-CN" i="1" dirty="0"/>
                <a:t>Firewall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A590B12-8BEB-5DFB-1E87-06B793725871}"/>
              </a:ext>
            </a:extLst>
          </p:cNvPr>
          <p:cNvSpPr txBox="1"/>
          <p:nvPr/>
        </p:nvSpPr>
        <p:spPr>
          <a:xfrm>
            <a:off x="0" y="2917783"/>
            <a:ext cx="12191997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6000" dirty="0">
                <a:solidFill>
                  <a:schemeClr val="bg1"/>
                </a:solidFill>
              </a:rPr>
              <a:t>2.1 Construction of Base Network</a:t>
            </a:r>
          </a:p>
        </p:txBody>
      </p:sp>
    </p:spTree>
    <p:extLst>
      <p:ext uri="{BB962C8B-B14F-4D97-AF65-F5344CB8AC3E}">
        <p14:creationId xmlns:p14="http://schemas.microsoft.com/office/powerpoint/2010/main" val="56137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8DAA6F80-AB7E-F3A0-5763-A55124C14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11" y="-1"/>
            <a:ext cx="9873277" cy="68697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7B0EE8-7124-839F-E42F-14C40A214991}"/>
              </a:ext>
            </a:extLst>
          </p:cNvPr>
          <p:cNvSpPr txBox="1"/>
          <p:nvPr/>
        </p:nvSpPr>
        <p:spPr>
          <a:xfrm>
            <a:off x="7585504" y="3832319"/>
            <a:ext cx="3283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800" dirty="0">
                <a:latin typeface="+mj-lt"/>
              </a:rPr>
              <a:t>ICS Network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7FF454F-48E9-4530-5D42-D196523D5DC9}"/>
              </a:ext>
            </a:extLst>
          </p:cNvPr>
          <p:cNvGrpSpPr/>
          <p:nvPr/>
        </p:nvGrpSpPr>
        <p:grpSpPr>
          <a:xfrm>
            <a:off x="1609861" y="5426630"/>
            <a:ext cx="1556719" cy="1328692"/>
            <a:chOff x="1611538" y="5514314"/>
            <a:chExt cx="1556719" cy="132869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4005AA9-A47A-CBFE-DA57-8BCB74147AE8}"/>
                </a:ext>
              </a:extLst>
            </p:cNvPr>
            <p:cNvSpPr/>
            <p:nvPr/>
          </p:nvSpPr>
          <p:spPr>
            <a:xfrm>
              <a:off x="2416227" y="6090976"/>
              <a:ext cx="752030" cy="752030"/>
            </a:xfrm>
            <a:prstGeom prst="ellipse">
              <a:avLst/>
            </a:prstGeom>
            <a:noFill/>
            <a:ln w="762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0F501F-5791-7569-0ECA-B00A8C75AB7F}"/>
                </a:ext>
              </a:extLst>
            </p:cNvPr>
            <p:cNvSpPr txBox="1"/>
            <p:nvPr/>
          </p:nvSpPr>
          <p:spPr>
            <a:xfrm>
              <a:off x="1611538" y="5514314"/>
              <a:ext cx="11963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2000" u="sng" dirty="0">
                  <a:solidFill>
                    <a:srgbClr val="FF0000"/>
                  </a:solidFill>
                </a:rPr>
                <a:t>OpenPLC</a:t>
              </a:r>
            </a:p>
            <a:p>
              <a:r>
                <a:rPr lang="en-CN" sz="1600" i="1" dirty="0">
                  <a:solidFill>
                    <a:srgbClr val="FF0000"/>
                  </a:solidFill>
                </a:rPr>
                <a:t>Controller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13EB38A-50E0-6EE4-53A9-702D6F1C4B0F}"/>
              </a:ext>
            </a:extLst>
          </p:cNvPr>
          <p:cNvGrpSpPr/>
          <p:nvPr/>
        </p:nvGrpSpPr>
        <p:grpSpPr>
          <a:xfrm>
            <a:off x="747581" y="2070235"/>
            <a:ext cx="1424937" cy="1398361"/>
            <a:chOff x="1226699" y="1017616"/>
            <a:chExt cx="1424937" cy="139836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A0ED57E-21E1-2468-A36D-4DAD75F0C721}"/>
                </a:ext>
              </a:extLst>
            </p:cNvPr>
            <p:cNvSpPr/>
            <p:nvPr/>
          </p:nvSpPr>
          <p:spPr>
            <a:xfrm>
              <a:off x="1899606" y="1017616"/>
              <a:ext cx="752030" cy="752030"/>
            </a:xfrm>
            <a:prstGeom prst="ellipse">
              <a:avLst/>
            </a:prstGeom>
            <a:noFill/>
            <a:ln w="76200" cap="flat" cmpd="sng" algn="ctr">
              <a:solidFill>
                <a:srgbClr val="00B050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9D838D-0567-22EC-EEB8-206B55133C78}"/>
                </a:ext>
              </a:extLst>
            </p:cNvPr>
            <p:cNvSpPr txBox="1"/>
            <p:nvPr/>
          </p:nvSpPr>
          <p:spPr>
            <a:xfrm>
              <a:off x="1226699" y="1769646"/>
              <a:ext cx="11963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2000" u="sng" dirty="0">
                  <a:solidFill>
                    <a:srgbClr val="00B050"/>
                  </a:solidFill>
                </a:rPr>
                <a:t>Scada-LTS</a:t>
              </a:r>
            </a:p>
            <a:p>
              <a:r>
                <a:rPr lang="en-CN" sz="1600" i="1" dirty="0">
                  <a:solidFill>
                    <a:srgbClr val="00B050"/>
                  </a:solidFill>
                </a:rPr>
                <a:t>Monitor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0D39B46-ACEF-1E33-CC29-F4808C1FA55C}"/>
              </a:ext>
            </a:extLst>
          </p:cNvPr>
          <p:cNvGrpSpPr/>
          <p:nvPr/>
        </p:nvGrpSpPr>
        <p:grpSpPr>
          <a:xfrm>
            <a:off x="5397791" y="5456247"/>
            <a:ext cx="1870799" cy="1328692"/>
            <a:chOff x="5479235" y="5514314"/>
            <a:chExt cx="1870799" cy="132869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C9AFC09-0341-97F0-D6D8-884346078103}"/>
                </a:ext>
              </a:extLst>
            </p:cNvPr>
            <p:cNvSpPr/>
            <p:nvPr/>
          </p:nvSpPr>
          <p:spPr>
            <a:xfrm>
              <a:off x="5479235" y="6090976"/>
              <a:ext cx="752030" cy="752030"/>
            </a:xfrm>
            <a:prstGeom prst="ellipse">
              <a:avLst/>
            </a:prstGeom>
            <a:noFill/>
            <a:ln w="76200" cap="flat" cmpd="sng" algn="ctr">
              <a:solidFill>
                <a:srgbClr val="7030A0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C7DA211-5857-92A2-E896-11E080F7DBBC}"/>
                </a:ext>
              </a:extLst>
            </p:cNvPr>
            <p:cNvSpPr txBox="1"/>
            <p:nvPr/>
          </p:nvSpPr>
          <p:spPr>
            <a:xfrm>
              <a:off x="6095999" y="5514314"/>
              <a:ext cx="12540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2000" u="sng" dirty="0">
                  <a:solidFill>
                    <a:srgbClr val="7030A0"/>
                  </a:solidFill>
                </a:rPr>
                <a:t>KaliLinux1</a:t>
              </a:r>
            </a:p>
            <a:p>
              <a:r>
                <a:rPr lang="en-CN" sz="1600" i="1" dirty="0">
                  <a:solidFill>
                    <a:srgbClr val="7030A0"/>
                  </a:solidFill>
                </a:rPr>
                <a:t>Attacker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A4C8B19-3CB3-26D2-5114-DC5280F628EB}"/>
              </a:ext>
            </a:extLst>
          </p:cNvPr>
          <p:cNvGrpSpPr/>
          <p:nvPr/>
        </p:nvGrpSpPr>
        <p:grpSpPr>
          <a:xfrm>
            <a:off x="702172" y="35341"/>
            <a:ext cx="1485595" cy="1398361"/>
            <a:chOff x="665141" y="45109"/>
            <a:chExt cx="1485595" cy="1398361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D8BF530-12C8-76DC-D3C4-8A71439171FE}"/>
                </a:ext>
              </a:extLst>
            </p:cNvPr>
            <p:cNvSpPr/>
            <p:nvPr/>
          </p:nvSpPr>
          <p:spPr>
            <a:xfrm>
              <a:off x="1398706" y="45109"/>
              <a:ext cx="752030" cy="752030"/>
            </a:xfrm>
            <a:prstGeom prst="ellipse">
              <a:avLst/>
            </a:prstGeom>
            <a:noFill/>
            <a:ln w="76200" cap="flat" cmpd="sng" algn="ctr">
              <a:solidFill>
                <a:srgbClr val="7030A0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F54C31A-81D1-BAC4-1A63-7B7F3B976E6B}"/>
                </a:ext>
              </a:extLst>
            </p:cNvPr>
            <p:cNvSpPr txBox="1"/>
            <p:nvPr/>
          </p:nvSpPr>
          <p:spPr>
            <a:xfrm>
              <a:off x="665141" y="797139"/>
              <a:ext cx="12344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2000" u="sng" dirty="0">
                  <a:solidFill>
                    <a:srgbClr val="7030A0"/>
                  </a:solidFill>
                </a:rPr>
                <a:t>KaliLinux2</a:t>
              </a:r>
            </a:p>
            <a:p>
              <a:r>
                <a:rPr lang="en-CN" sz="1600" i="1" dirty="0">
                  <a:solidFill>
                    <a:srgbClr val="7030A0"/>
                  </a:solidFill>
                </a:rPr>
                <a:t>Attacker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82DEA13-EBB8-7B05-AFB4-CFB71928C7BC}"/>
              </a:ext>
            </a:extLst>
          </p:cNvPr>
          <p:cNvGrpSpPr/>
          <p:nvPr/>
        </p:nvGrpSpPr>
        <p:grpSpPr>
          <a:xfrm>
            <a:off x="1506156" y="3614142"/>
            <a:ext cx="2162499" cy="1212968"/>
            <a:chOff x="1483899" y="3561641"/>
            <a:chExt cx="2162499" cy="1212968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43AAA18-3B4B-7860-027F-31F07E5D7310}"/>
                </a:ext>
              </a:extLst>
            </p:cNvPr>
            <p:cNvSpPr/>
            <p:nvPr/>
          </p:nvSpPr>
          <p:spPr>
            <a:xfrm>
              <a:off x="2894368" y="4022579"/>
              <a:ext cx="752030" cy="752030"/>
            </a:xfrm>
            <a:prstGeom prst="ellipse">
              <a:avLst/>
            </a:prstGeom>
            <a:noFill/>
            <a:ln w="76200" cap="flat" cmpd="sng" algn="ctr">
              <a:solidFill>
                <a:srgbClr val="0070C0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F97FF35-D085-49C2-AB07-9650129863A0}"/>
                </a:ext>
              </a:extLst>
            </p:cNvPr>
            <p:cNvSpPr txBox="1"/>
            <p:nvPr/>
          </p:nvSpPr>
          <p:spPr>
            <a:xfrm>
              <a:off x="1483899" y="3561641"/>
              <a:ext cx="17641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2000" u="sng" dirty="0">
                  <a:solidFill>
                    <a:srgbClr val="0070C0"/>
                  </a:solidFill>
                </a:rPr>
                <a:t>Open vSwitch-I</a:t>
              </a:r>
            </a:p>
            <a:p>
              <a:r>
                <a:rPr lang="en-CN" sz="1600" i="1" dirty="0">
                  <a:solidFill>
                    <a:srgbClr val="0070C0"/>
                  </a:solidFill>
                </a:rPr>
                <a:t>Switch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A3E53E8-8001-4570-4A81-FAE0F3D698BA}"/>
              </a:ext>
            </a:extLst>
          </p:cNvPr>
          <p:cNvGrpSpPr/>
          <p:nvPr/>
        </p:nvGrpSpPr>
        <p:grpSpPr>
          <a:xfrm>
            <a:off x="4910600" y="3601487"/>
            <a:ext cx="2487727" cy="1212967"/>
            <a:chOff x="4910600" y="3601487"/>
            <a:chExt cx="2487727" cy="1212967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5799DA9-2E32-E616-3360-544ABC64062C}"/>
                </a:ext>
              </a:extLst>
            </p:cNvPr>
            <p:cNvSpPr/>
            <p:nvPr/>
          </p:nvSpPr>
          <p:spPr>
            <a:xfrm>
              <a:off x="4910600" y="4062424"/>
              <a:ext cx="752030" cy="752030"/>
            </a:xfrm>
            <a:prstGeom prst="ellipse">
              <a:avLst/>
            </a:prstGeom>
            <a:noFill/>
            <a:ln w="76200" cap="flat" cmpd="sng" algn="ctr">
              <a:solidFill>
                <a:srgbClr val="0070C0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D617FBD-0C78-3731-495F-B9B635C04CE9}"/>
                </a:ext>
              </a:extLst>
            </p:cNvPr>
            <p:cNvSpPr txBox="1"/>
            <p:nvPr/>
          </p:nvSpPr>
          <p:spPr>
            <a:xfrm>
              <a:off x="5517769" y="3601487"/>
              <a:ext cx="188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2000" u="sng" dirty="0">
                  <a:solidFill>
                    <a:srgbClr val="0070C0"/>
                  </a:solidFill>
                </a:rPr>
                <a:t>Open vSwitch-III</a:t>
              </a:r>
            </a:p>
            <a:p>
              <a:r>
                <a:rPr lang="en-CN" sz="1600" i="1" dirty="0">
                  <a:solidFill>
                    <a:srgbClr val="0070C0"/>
                  </a:solidFill>
                </a:rPr>
                <a:t>Switch</a:t>
              </a:r>
            </a:p>
          </p:txBody>
        </p:sp>
      </p:grpSp>
      <p:pic>
        <p:nvPicPr>
          <p:cNvPr id="25" name="Picture 24" descr="Diagram&#10;&#10;Description automatically generated">
            <a:extLst>
              <a:ext uri="{FF2B5EF4-FFF2-40B4-BE49-F238E27FC236}">
                <a16:creationId xmlns:a16="http://schemas.microsoft.com/office/drawing/2014/main" id="{25FC94B6-6FE0-5FED-AD91-9AC75EA87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205" y="4703700"/>
            <a:ext cx="4122795" cy="2166049"/>
          </a:xfrm>
          <a:prstGeom prst="rect">
            <a:avLst/>
          </a:prstGeom>
          <a:solidFill>
            <a:srgbClr val="DEDEDE"/>
          </a:solidFill>
          <a:ln w="38100">
            <a:noFill/>
          </a:ln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1C6892B7-95F1-4A4D-2D60-BAB83788078F}"/>
              </a:ext>
            </a:extLst>
          </p:cNvPr>
          <p:cNvGrpSpPr/>
          <p:nvPr/>
        </p:nvGrpSpPr>
        <p:grpSpPr>
          <a:xfrm>
            <a:off x="3494241" y="4075080"/>
            <a:ext cx="1832265" cy="1437527"/>
            <a:chOff x="3494241" y="4075080"/>
            <a:chExt cx="1832265" cy="14375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4CD7F8B-03B1-2BE0-B262-D50AAB7B624F}"/>
                </a:ext>
              </a:extLst>
            </p:cNvPr>
            <p:cNvSpPr/>
            <p:nvPr/>
          </p:nvSpPr>
          <p:spPr>
            <a:xfrm>
              <a:off x="3898855" y="4075080"/>
              <a:ext cx="752030" cy="752030"/>
            </a:xfrm>
            <a:prstGeom prst="ellipse">
              <a:avLst/>
            </a:prstGeom>
            <a:noFill/>
            <a:ln w="76200" cap="flat" cmpd="sng" algn="ctr">
              <a:solidFill>
                <a:srgbClr val="0070C0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E1D55F8-88D8-C302-2A87-C5FE2F033AD7}"/>
                </a:ext>
              </a:extLst>
            </p:cNvPr>
            <p:cNvSpPr txBox="1"/>
            <p:nvPr/>
          </p:nvSpPr>
          <p:spPr>
            <a:xfrm>
              <a:off x="3494241" y="4866276"/>
              <a:ext cx="18322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2000" u="sng" dirty="0">
                  <a:solidFill>
                    <a:srgbClr val="0070C0"/>
                  </a:solidFill>
                </a:rPr>
                <a:t>Open vSwitch-II</a:t>
              </a:r>
            </a:p>
            <a:p>
              <a:r>
                <a:rPr lang="en-CN" sz="1600" i="1" dirty="0">
                  <a:solidFill>
                    <a:srgbClr val="0070C0"/>
                  </a:solidFill>
                </a:rPr>
                <a:t>Switch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FB03986-792F-8A18-4B19-E0B05594F32C}"/>
              </a:ext>
            </a:extLst>
          </p:cNvPr>
          <p:cNvGrpSpPr/>
          <p:nvPr/>
        </p:nvGrpSpPr>
        <p:grpSpPr>
          <a:xfrm>
            <a:off x="2916625" y="1091586"/>
            <a:ext cx="2345331" cy="1238709"/>
            <a:chOff x="2916625" y="1091586"/>
            <a:chExt cx="2345331" cy="123870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210FD8D-19FC-A633-78C0-63FAB1EBD8BC}"/>
                </a:ext>
              </a:extLst>
            </p:cNvPr>
            <p:cNvSpPr/>
            <p:nvPr/>
          </p:nvSpPr>
          <p:spPr>
            <a:xfrm>
              <a:off x="2916625" y="1091586"/>
              <a:ext cx="752030" cy="752030"/>
            </a:xfrm>
            <a:prstGeom prst="ellipse">
              <a:avLst/>
            </a:prstGeom>
            <a:noFill/>
            <a:ln w="76200" cap="flat" cmpd="sng" algn="ctr">
              <a:solidFill>
                <a:srgbClr val="0070C0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89CBEC2-8CBC-506D-E0CF-23A2D2BB0DD4}"/>
                </a:ext>
              </a:extLst>
            </p:cNvPr>
            <p:cNvSpPr txBox="1"/>
            <p:nvPr/>
          </p:nvSpPr>
          <p:spPr>
            <a:xfrm>
              <a:off x="3358737" y="1683964"/>
              <a:ext cx="19032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2000" u="sng" dirty="0">
                  <a:solidFill>
                    <a:srgbClr val="0070C0"/>
                  </a:solidFill>
                </a:rPr>
                <a:t>Open vSwitch-IV</a:t>
              </a:r>
            </a:p>
            <a:p>
              <a:r>
                <a:rPr lang="en-CN" sz="1600" i="1" dirty="0">
                  <a:solidFill>
                    <a:srgbClr val="0070C0"/>
                  </a:solidFill>
                </a:rPr>
                <a:t>Switch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B80F938-277B-4608-C8B3-E5E72761011C}"/>
              </a:ext>
            </a:extLst>
          </p:cNvPr>
          <p:cNvSpPr txBox="1"/>
          <p:nvPr/>
        </p:nvSpPr>
        <p:spPr>
          <a:xfrm>
            <a:off x="5720436" y="489979"/>
            <a:ext cx="6377809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1"/>
                </a:solidFill>
              </a:rPr>
              <a:t>(i) Location of OpenPLC and Scada-LTS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6A98DE-B1C9-883A-E007-CC6C67DE45B6}"/>
              </a:ext>
            </a:extLst>
          </p:cNvPr>
          <p:cNvSpPr txBox="1"/>
          <p:nvPr/>
        </p:nvSpPr>
        <p:spPr>
          <a:xfrm>
            <a:off x="5720437" y="1066641"/>
            <a:ext cx="6377810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1"/>
                </a:solidFill>
              </a:rPr>
              <a:t>(ii) Possible Location of KaliLinux (Attacker)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1C3289-A8E0-C8E0-9CA2-072E899E77BF}"/>
              </a:ext>
            </a:extLst>
          </p:cNvPr>
          <p:cNvSpPr txBox="1"/>
          <p:nvPr/>
        </p:nvSpPr>
        <p:spPr>
          <a:xfrm>
            <a:off x="5720437" y="1651069"/>
            <a:ext cx="6377810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1"/>
                </a:solidFill>
              </a:rPr>
              <a:t>(iii) Location of Open vSwitch (Defender)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65DB83-AD29-2FAA-439E-77B86A6FFABF}"/>
              </a:ext>
            </a:extLst>
          </p:cNvPr>
          <p:cNvSpPr txBox="1"/>
          <p:nvPr/>
        </p:nvSpPr>
        <p:spPr>
          <a:xfrm>
            <a:off x="0" y="2958021"/>
            <a:ext cx="12192000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6000" dirty="0">
                <a:solidFill>
                  <a:schemeClr val="bg1"/>
                </a:solidFill>
              </a:rPr>
              <a:t>2.2 Construction of ICS Network</a:t>
            </a:r>
          </a:p>
        </p:txBody>
      </p:sp>
    </p:spTree>
    <p:extLst>
      <p:ext uri="{BB962C8B-B14F-4D97-AF65-F5344CB8AC3E}">
        <p14:creationId xmlns:p14="http://schemas.microsoft.com/office/powerpoint/2010/main" val="200919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able&#10;&#10;Description automatically generated">
            <a:extLst>
              <a:ext uri="{FF2B5EF4-FFF2-40B4-BE49-F238E27FC236}">
                <a16:creationId xmlns:a16="http://schemas.microsoft.com/office/drawing/2014/main" id="{DFA3D2DA-094A-FE69-5C48-16516B1CBA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3443"/>
          <a:stretch/>
        </p:blipFill>
        <p:spPr>
          <a:xfrm>
            <a:off x="4667" y="0"/>
            <a:ext cx="12187333" cy="2826327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8EEC627-720B-8875-3814-7838AF0D1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67" y="2108993"/>
            <a:ext cx="12192000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C386DAB-82EF-D1F5-4119-F2E3F0E7D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67" y="2125663"/>
            <a:ext cx="12192000" cy="473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F4AEF3-A300-B1A2-541D-77C9CB36ADE9}"/>
              </a:ext>
            </a:extLst>
          </p:cNvPr>
          <p:cNvSpPr txBox="1"/>
          <p:nvPr/>
        </p:nvSpPr>
        <p:spPr>
          <a:xfrm>
            <a:off x="2838770" y="2441070"/>
            <a:ext cx="6519126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1"/>
                </a:solidFill>
              </a:rPr>
              <a:t>(i) Mechanism of Modbus Attack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A58C6-4839-1CCE-A64C-9D0059BC3095}"/>
              </a:ext>
            </a:extLst>
          </p:cNvPr>
          <p:cNvSpPr txBox="1"/>
          <p:nvPr/>
        </p:nvSpPr>
        <p:spPr>
          <a:xfrm>
            <a:off x="2838770" y="3043813"/>
            <a:ext cx="6519126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1"/>
                </a:solidFill>
              </a:rPr>
              <a:t>(ii) Countermeasure against Modbus Attack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D73F2-0007-D7FE-860B-DA7C445F09AE}"/>
              </a:ext>
            </a:extLst>
          </p:cNvPr>
          <p:cNvSpPr txBox="1"/>
          <p:nvPr/>
        </p:nvSpPr>
        <p:spPr>
          <a:xfrm>
            <a:off x="2838770" y="3651823"/>
            <a:ext cx="6519126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1"/>
                </a:solidFill>
              </a:rPr>
              <a:t>(iii) Implementation of the Countermeasure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33B2C-429F-0066-E3D6-FB2DFE2C856A}"/>
              </a:ext>
            </a:extLst>
          </p:cNvPr>
          <p:cNvSpPr txBox="1"/>
          <p:nvPr/>
        </p:nvSpPr>
        <p:spPr>
          <a:xfrm>
            <a:off x="4670" y="1159850"/>
            <a:ext cx="12191997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6000" dirty="0">
                <a:solidFill>
                  <a:schemeClr val="bg1"/>
                </a:solidFill>
              </a:rPr>
              <a:t>3.1 Modbus Attack</a:t>
            </a:r>
          </a:p>
        </p:txBody>
      </p:sp>
    </p:spTree>
    <p:extLst>
      <p:ext uri="{BB962C8B-B14F-4D97-AF65-F5344CB8AC3E}">
        <p14:creationId xmlns:p14="http://schemas.microsoft.com/office/powerpoint/2010/main" val="11077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 animBg="1"/>
      <p:bldP spid="5" grpId="0" animBg="1"/>
      <p:bldP spid="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FFBC6B-8DA0-725A-950E-FC4E9789C2A1}"/>
              </a:ext>
            </a:extLst>
          </p:cNvPr>
          <p:cNvSpPr txBox="1"/>
          <p:nvPr/>
        </p:nvSpPr>
        <p:spPr>
          <a:xfrm>
            <a:off x="170917" y="501411"/>
            <a:ext cx="354967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3600" b="1" u="sng" dirty="0">
                <a:latin typeface="+mj-lt"/>
              </a:rPr>
              <a:t>SDN Defence App:</a:t>
            </a:r>
          </a:p>
          <a:p>
            <a:r>
              <a:rPr lang="en-CN" sz="3200" b="1" i="1" dirty="0">
                <a:latin typeface="+mj-lt"/>
              </a:rPr>
              <a:t>Modbus Attack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2F48812-FF22-EC34-7BAC-04FD402B5205}"/>
              </a:ext>
            </a:extLst>
          </p:cNvPr>
          <p:cNvGrpSpPr/>
          <p:nvPr/>
        </p:nvGrpSpPr>
        <p:grpSpPr>
          <a:xfrm>
            <a:off x="170917" y="0"/>
            <a:ext cx="6118788" cy="6858000"/>
            <a:chOff x="170917" y="0"/>
            <a:chExt cx="6118788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A7FF254-9D09-C592-C85D-BC8460C1A058}"/>
                </a:ext>
              </a:extLst>
            </p:cNvPr>
            <p:cNvSpPr/>
            <p:nvPr/>
          </p:nvSpPr>
          <p:spPr>
            <a:xfrm>
              <a:off x="3161944" y="0"/>
              <a:ext cx="3127761" cy="6858000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64C98F-0766-D373-D097-2AE6540C5EBE}"/>
                </a:ext>
              </a:extLst>
            </p:cNvPr>
            <p:cNvSpPr txBox="1"/>
            <p:nvPr/>
          </p:nvSpPr>
          <p:spPr>
            <a:xfrm>
              <a:off x="170917" y="3136612"/>
              <a:ext cx="29910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3200" dirty="0"/>
                <a:t>Packet Processor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BEA418D-19D3-61E1-C312-8368779DE430}"/>
              </a:ext>
            </a:extLst>
          </p:cNvPr>
          <p:cNvGrpSpPr/>
          <p:nvPr/>
        </p:nvGrpSpPr>
        <p:grpSpPr>
          <a:xfrm>
            <a:off x="6469167" y="0"/>
            <a:ext cx="5722833" cy="6101697"/>
            <a:chOff x="6469167" y="0"/>
            <a:chExt cx="5722833" cy="610169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F5C965-65F9-6986-6E33-E8C36B408594}"/>
                </a:ext>
              </a:extLst>
            </p:cNvPr>
            <p:cNvSpPr/>
            <p:nvPr/>
          </p:nvSpPr>
          <p:spPr>
            <a:xfrm>
              <a:off x="6469167" y="0"/>
              <a:ext cx="2641805" cy="6101697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02D1E2A-8763-B725-4391-AF215C79BFA5}"/>
                </a:ext>
              </a:extLst>
            </p:cNvPr>
            <p:cNvSpPr txBox="1"/>
            <p:nvPr/>
          </p:nvSpPr>
          <p:spPr>
            <a:xfrm>
              <a:off x="8749469" y="3136611"/>
              <a:ext cx="34425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3200" dirty="0"/>
                <a:t>Frequency Analyser</a:t>
              </a:r>
            </a:p>
          </p:txBody>
        </p:sp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8B271AA2-5872-F07F-D5CC-31D1D2FF4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1028" y="0"/>
            <a:ext cx="60299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265D7C2-95C1-EACB-641F-094E09AC48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542"/>
          <a:stretch/>
        </p:blipFill>
        <p:spPr>
          <a:xfrm>
            <a:off x="0" y="985058"/>
            <a:ext cx="12195024" cy="4887884"/>
          </a:xfrm>
          <a:prstGeom prst="rect">
            <a:avLst/>
          </a:prstGeom>
        </p:spPr>
      </p:pic>
      <p:pic>
        <p:nvPicPr>
          <p:cNvPr id="3" name="Picture 2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C0CE572C-DA2C-3D19-64D3-959DA89A9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75" y="0"/>
            <a:ext cx="10962649" cy="6858000"/>
          </a:xfrm>
          <a:prstGeom prst="rect">
            <a:avLst/>
          </a:prstGeom>
        </p:spPr>
      </p:pic>
      <p:pic>
        <p:nvPicPr>
          <p:cNvPr id="9" name="Picture 8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F5520F3B-61D5-9253-1FBB-BDE4A0F8C3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742BF1-DB3D-56F8-207C-282124B0936F}"/>
              </a:ext>
            </a:extLst>
          </p:cNvPr>
          <p:cNvSpPr txBox="1"/>
          <p:nvPr/>
        </p:nvSpPr>
        <p:spPr>
          <a:xfrm>
            <a:off x="2852078" y="2453379"/>
            <a:ext cx="6501997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1"/>
                </a:solidFill>
              </a:rPr>
              <a:t>(i) Mechanism of HTTP Attack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9EBE29-18EF-6442-8FB9-BF1490BB8BA8}"/>
              </a:ext>
            </a:extLst>
          </p:cNvPr>
          <p:cNvSpPr txBox="1"/>
          <p:nvPr/>
        </p:nvSpPr>
        <p:spPr>
          <a:xfrm>
            <a:off x="2852078" y="3065424"/>
            <a:ext cx="6501997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1"/>
                </a:solidFill>
              </a:rPr>
              <a:t>(ii) Countermeasure against HTTP Attack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F7F9B-4C32-EA9E-35D7-925D23F5B2F7}"/>
              </a:ext>
            </a:extLst>
          </p:cNvPr>
          <p:cNvSpPr txBox="1"/>
          <p:nvPr/>
        </p:nvSpPr>
        <p:spPr>
          <a:xfrm>
            <a:off x="2852078" y="3666108"/>
            <a:ext cx="6501997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1"/>
                </a:solidFill>
              </a:rPr>
              <a:t>(iii) Implementation of the Countermeasure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A80B9-474D-7E56-619E-E3A3EF7AA982}"/>
              </a:ext>
            </a:extLst>
          </p:cNvPr>
          <p:cNvSpPr txBox="1"/>
          <p:nvPr/>
        </p:nvSpPr>
        <p:spPr>
          <a:xfrm>
            <a:off x="4670" y="1159850"/>
            <a:ext cx="12191997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6000" dirty="0">
                <a:solidFill>
                  <a:schemeClr val="bg1"/>
                </a:solidFill>
              </a:rPr>
              <a:t>3.2 HTTP Attack</a:t>
            </a:r>
          </a:p>
        </p:txBody>
      </p:sp>
    </p:spTree>
    <p:extLst>
      <p:ext uri="{BB962C8B-B14F-4D97-AF65-F5344CB8AC3E}">
        <p14:creationId xmlns:p14="http://schemas.microsoft.com/office/powerpoint/2010/main" val="254405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3" grpId="0" animBg="1"/>
      <p:bldP spid="1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FFBC6B-8DA0-725A-950E-FC4E9789C2A1}"/>
              </a:ext>
            </a:extLst>
          </p:cNvPr>
          <p:cNvSpPr txBox="1"/>
          <p:nvPr/>
        </p:nvSpPr>
        <p:spPr>
          <a:xfrm>
            <a:off x="170917" y="501411"/>
            <a:ext cx="354967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3600" b="1" u="sng" dirty="0">
                <a:latin typeface="+mj-lt"/>
              </a:rPr>
              <a:t>SDN Defence App:</a:t>
            </a:r>
          </a:p>
          <a:p>
            <a:r>
              <a:rPr lang="en-CN" sz="3200" b="1" i="1" dirty="0">
                <a:latin typeface="+mj-lt"/>
              </a:rPr>
              <a:t>HTTP Attack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2F48812-FF22-EC34-7BAC-04FD402B5205}"/>
              </a:ext>
            </a:extLst>
          </p:cNvPr>
          <p:cNvGrpSpPr/>
          <p:nvPr/>
        </p:nvGrpSpPr>
        <p:grpSpPr>
          <a:xfrm>
            <a:off x="0" y="0"/>
            <a:ext cx="6096001" cy="6858000"/>
            <a:chOff x="0" y="0"/>
            <a:chExt cx="6096001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A7FF254-9D09-C592-C85D-BC8460C1A058}"/>
                </a:ext>
              </a:extLst>
            </p:cNvPr>
            <p:cNvSpPr/>
            <p:nvPr/>
          </p:nvSpPr>
          <p:spPr>
            <a:xfrm>
              <a:off x="2951019" y="0"/>
              <a:ext cx="3144982" cy="6858000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64C98F-0766-D373-D097-2AE6540C5EBE}"/>
                </a:ext>
              </a:extLst>
            </p:cNvPr>
            <p:cNvSpPr txBox="1"/>
            <p:nvPr/>
          </p:nvSpPr>
          <p:spPr>
            <a:xfrm>
              <a:off x="0" y="3136611"/>
              <a:ext cx="29910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3200" dirty="0"/>
                <a:t>Packet Processor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BEA418D-19D3-61E1-C312-8368779DE430}"/>
              </a:ext>
            </a:extLst>
          </p:cNvPr>
          <p:cNvGrpSpPr/>
          <p:nvPr/>
        </p:nvGrpSpPr>
        <p:grpSpPr>
          <a:xfrm>
            <a:off x="6284771" y="0"/>
            <a:ext cx="5907229" cy="5910349"/>
            <a:chOff x="6284771" y="0"/>
            <a:chExt cx="5907229" cy="591034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F5C965-65F9-6986-6E33-E8C36B408594}"/>
                </a:ext>
              </a:extLst>
            </p:cNvPr>
            <p:cNvSpPr/>
            <p:nvPr/>
          </p:nvSpPr>
          <p:spPr>
            <a:xfrm>
              <a:off x="6284771" y="0"/>
              <a:ext cx="2956210" cy="5910349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02D1E2A-8763-B725-4391-AF215C79BFA5}"/>
                </a:ext>
              </a:extLst>
            </p:cNvPr>
            <p:cNvSpPr txBox="1"/>
            <p:nvPr/>
          </p:nvSpPr>
          <p:spPr>
            <a:xfrm>
              <a:off x="8749469" y="3136611"/>
              <a:ext cx="34425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3200" dirty="0"/>
                <a:t>Frequency Analyser</a:t>
              </a: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5997F362-9CDB-8513-7A9B-883A7E541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250" y="38100"/>
            <a:ext cx="66675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5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5C482-F2F6-6A47-2F6A-3D0585723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CN" dirty="0">
                <a:solidFill>
                  <a:schemeClr val="bg1"/>
                </a:solidFill>
              </a:rPr>
              <a:t>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0B875-2598-CCE5-15A2-4B8910725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Purpose and background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Prior work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Construction of base network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Construction of ICS network</a:t>
            </a:r>
          </a:p>
          <a:p>
            <a:pPr lvl="1"/>
            <a:r>
              <a:rPr lang="en-US" altLang="zh-CN" dirty="0">
                <a:solidFill>
                  <a:schemeClr val="bg1"/>
                </a:solidFill>
              </a:rPr>
              <a:t>location of devices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Modbus attack</a:t>
            </a:r>
          </a:p>
          <a:p>
            <a:pPr lvl="1"/>
            <a:r>
              <a:rPr lang="en-US" altLang="zh-CN" dirty="0">
                <a:solidFill>
                  <a:schemeClr val="bg1"/>
                </a:solidFill>
              </a:rPr>
              <a:t>mechanism and countermeasure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HTTP attack</a:t>
            </a:r>
          </a:p>
          <a:p>
            <a:pPr lvl="1"/>
            <a:r>
              <a:rPr lang="en-US" altLang="zh-CN" dirty="0">
                <a:solidFill>
                  <a:schemeClr val="bg1"/>
                </a:solidFill>
              </a:rPr>
              <a:t>mechanism and countermeasure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051328F-0062-29D0-DF17-0D89470CFFED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Interaction between Scada-LTS and </a:t>
            </a:r>
            <a:r>
              <a:rPr lang="en-US" altLang="zh-CN" dirty="0" err="1">
                <a:solidFill>
                  <a:schemeClr val="bg1"/>
                </a:solidFill>
              </a:rPr>
              <a:t>OpenPLC</a:t>
            </a:r>
            <a:endParaRPr lang="en-US" altLang="zh-CN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Attack &amp; </a:t>
            </a:r>
            <a:r>
              <a:rPr lang="en-GB" altLang="zh-CN" dirty="0">
                <a:solidFill>
                  <a:schemeClr val="bg1"/>
                </a:solidFill>
              </a:rPr>
              <a:t>defence</a:t>
            </a:r>
            <a:r>
              <a:rPr lang="en-US" altLang="zh-CN" dirty="0">
                <a:solidFill>
                  <a:schemeClr val="bg1"/>
                </a:solidFill>
              </a:rPr>
              <a:t> on Modbus</a:t>
            </a:r>
          </a:p>
          <a:p>
            <a:pPr marL="0" indent="0">
              <a:buNone/>
            </a:pP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Attack &amp; </a:t>
            </a:r>
            <a:r>
              <a:rPr lang="en-GB" altLang="zh-CN" dirty="0">
                <a:solidFill>
                  <a:schemeClr val="bg1"/>
                </a:solidFill>
              </a:rPr>
              <a:t>defence</a:t>
            </a:r>
            <a:r>
              <a:rPr lang="en-US" altLang="zh-CN" dirty="0">
                <a:solidFill>
                  <a:schemeClr val="bg1"/>
                </a:solidFill>
              </a:rPr>
              <a:t> on HTTP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C4985B-DAD2-F741-E833-0381A3B8BD6B}"/>
              </a:ext>
            </a:extLst>
          </p:cNvPr>
          <p:cNvSpPr txBox="1">
            <a:spLocks/>
          </p:cNvSpPr>
          <p:nvPr/>
        </p:nvSpPr>
        <p:spPr>
          <a:xfrm>
            <a:off x="6096000" y="365125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dirty="0">
                <a:solidFill>
                  <a:schemeClr val="bg1"/>
                </a:solidFill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804907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3036AC-3376-B056-543A-3FBD19FDB229}"/>
              </a:ext>
            </a:extLst>
          </p:cNvPr>
          <p:cNvSpPr txBox="1"/>
          <p:nvPr/>
        </p:nvSpPr>
        <p:spPr>
          <a:xfrm>
            <a:off x="2001982" y="1851645"/>
            <a:ext cx="8188036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9900" dirty="0">
                <a:solidFill>
                  <a:schemeClr val="bg1"/>
                </a:solidFill>
                <a:latin typeface="+mj-lt"/>
              </a:rPr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1260198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487</Words>
  <Application>Microsoft Macintosh PowerPoint</Application>
  <PresentationFormat>Widescreen</PresentationFormat>
  <Paragraphs>100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Slides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Countermeasure based on SDN for ICS</dc:title>
  <dc:creator>Ziyao Wang</dc:creator>
  <cp:lastModifiedBy>Ziyao Wang</cp:lastModifiedBy>
  <cp:revision>492</cp:revision>
  <dcterms:created xsi:type="dcterms:W3CDTF">2023-02-19T08:15:09Z</dcterms:created>
  <dcterms:modified xsi:type="dcterms:W3CDTF">2023-06-10T03:21:17Z</dcterms:modified>
</cp:coreProperties>
</file>